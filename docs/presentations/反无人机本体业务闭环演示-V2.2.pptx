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C7F0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5C7F0"/>
                </a:solidFill>
                <a:latin typeface="Noto Sans CJK SC"/>
              </a:defRPr>
            </a:pPr>
            <a:r>
              <a:t>COUNTER-UAS · ONTOLOGY CLOSED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66294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700" b="1">
                <a:solidFill>
                  <a:srgbClr val="F5FAFF"/>
                </a:solidFill>
                <a:latin typeface="Noto Sans CJK SC"/>
              </a:defRPr>
            </a:pPr>
            <a:r>
              <a:t>反无人机本体</a:t>
            </a:r>
            <a:br/>
            <a:r>
              <a:t>业务闭环演示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33472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0">
                <a:solidFill>
                  <a:srgbClr val="9DB1C5"/>
                </a:solidFill>
                <a:latin typeface="Noto Sans CJK SC"/>
              </a:defRPr>
            </a:pPr>
            <a:r>
              <a:t>MQTT 态势接入  →  本体认知  →  策略处置  →  效果评估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840480"/>
            <a:ext cx="621792" cy="621792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感知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44168" y="4151376"/>
            <a:ext cx="5394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47672" y="3840480"/>
            <a:ext cx="621792" cy="621792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认知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39" y="4151376"/>
            <a:ext cx="539497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209544" y="3840480"/>
            <a:ext cx="621792" cy="621792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决策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67911" y="4151376"/>
            <a:ext cx="539497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71416" y="3840480"/>
            <a:ext cx="621792" cy="621792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行动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9783" y="4151376"/>
            <a:ext cx="5394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33288" y="3840480"/>
            <a:ext cx="621792" cy="621792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4526280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评估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713232"/>
            <a:ext cx="3566160" cy="525780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05840"/>
            <a:ext cx="3017520" cy="3017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5320" y="4224528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35C7F0"/>
                </a:solidFill>
                <a:latin typeface="Noto Sans CJK SC"/>
              </a:defRPr>
            </a:pPr>
            <a:r>
              <a:t>演示目标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590288"/>
            <a:ext cx="257860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让一条仿真遥测从“数据”变成可解释、可执行、可回写的业务闭环。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453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9DB1C5"/>
                </a:solidFill>
                <a:latin typeface="Noto Sans CJK SC"/>
              </a:defRPr>
            </a:pPr>
            <a:r>
              <a:t>V2.2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一个事件，跑通八个业务环节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645920"/>
            <a:ext cx="475488" cy="47548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想定启动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要地防护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075688"/>
            <a:ext cx="292607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11296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1645920"/>
            <a:ext cx="475488" cy="47548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态势接入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MQTT 遥测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7608" y="2075688"/>
            <a:ext cx="292608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64224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8816" y="1645920"/>
            <a:ext cx="475488" cy="47548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数据治理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校验 / 标准化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0536" y="2075688"/>
            <a:ext cx="292608" cy="0"/>
          </a:xfrm>
          <a:prstGeom prst="line">
            <a:avLst/>
          </a:prstGeom>
          <a:ln w="2540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17152" y="1417320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81744" y="1645920"/>
            <a:ext cx="475488" cy="47548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581912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语义映射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975104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对象 / 关系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3639312"/>
            <a:ext cx="475488" cy="47548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威胁研判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规则 + 证据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54680" y="4069080"/>
            <a:ext cx="292607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511296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75887" y="3639312"/>
            <a:ext cx="475488" cy="47548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1104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方案生成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技能 + 模型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7608" y="4069080"/>
            <a:ext cx="292608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64224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28816" y="3639312"/>
            <a:ext cx="475488" cy="475488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处置执行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命令回传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60536" y="4069080"/>
            <a:ext cx="292608" cy="0"/>
          </a:xfrm>
          <a:prstGeom prst="line">
            <a:avLst/>
          </a:prstGeom>
          <a:ln w="25400">
            <a:solidFill>
              <a:srgbClr val="FF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17152" y="3410712"/>
            <a:ext cx="2487168" cy="1307592"/>
          </a:xfrm>
          <a:prstGeom prst="roundRect">
            <a:avLst/>
          </a:prstGeom>
          <a:solidFill>
            <a:srgbClr val="0E2235"/>
          </a:solidFill>
          <a:ln w="1905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81744" y="3639312"/>
            <a:ext cx="475488" cy="475488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575304"/>
            <a:ext cx="15087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效果评估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968496"/>
            <a:ext cx="150876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指标回写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972800" y="2734056"/>
            <a:ext cx="0" cy="512064"/>
          </a:xfrm>
          <a:prstGeom prst="line">
            <a:avLst/>
          </a:prstGeom>
          <a:ln w="25400">
            <a:solidFill>
              <a:srgbClr val="9DB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417320" y="4681728"/>
            <a:ext cx="8476488" cy="0"/>
          </a:xfrm>
          <a:prstGeom prst="line">
            <a:avLst/>
          </a:prstGeom>
          <a:ln w="25400">
            <a:solidFill>
              <a:srgbClr val="31D6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46120" y="4773168"/>
            <a:ext cx="59436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持续学习：效果证据返回场景、规则和方案库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5504688"/>
            <a:ext cx="10899648" cy="621792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623560"/>
            <a:ext cx="10469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闭环原则：每个判断有证据 · 每个动作有授权 · 每次执行有审计 · 每个结果可复盘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02 ·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场景：未知无人机进入要地防护区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6812280" cy="45262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35C7F0"/>
                </a:solidFill>
                <a:latin typeface="Noto Sans CJK SC"/>
              </a:defRPr>
            </a:pPr>
            <a:r>
              <a:t>受保护区域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03120"/>
            <a:ext cx="6080760" cy="3200400"/>
          </a:xfrm>
          <a:prstGeom prst="roundRect">
            <a:avLst/>
          </a:prstGeom>
          <a:solidFill>
            <a:srgbClr val="0A1C2C"/>
          </a:solidFill>
          <a:ln w="254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2743200"/>
            <a:ext cx="841248" cy="841248"/>
          </a:xfrm>
          <a:prstGeom prst="ellipse">
            <a:avLst/>
          </a:prstGeom>
          <a:solidFill>
            <a:srgbClr val="FF6B78"/>
          </a:solidFill>
          <a:ln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UAV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75887"/>
            <a:ext cx="1645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未知目标 U-01</a:t>
            </a:r>
          </a:p>
        </p:txBody>
      </p:sp>
      <p:sp>
        <p:nvSpPr>
          <p:cNvPr id="13" name="Oval 12"/>
          <p:cNvSpPr/>
          <p:nvPr/>
        </p:nvSpPr>
        <p:spPr>
          <a:xfrm>
            <a:off x="3794760" y="3977639"/>
            <a:ext cx="713232" cy="713232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RAD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736592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探测设备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2542032"/>
            <a:ext cx="713232" cy="713232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JAM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31012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压制设备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0048" y="3136392"/>
            <a:ext cx="1399032" cy="1024128"/>
          </a:xfrm>
          <a:prstGeom prst="line">
            <a:avLst/>
          </a:prstGeom>
          <a:ln w="25400">
            <a:solidFill>
              <a:srgbClr val="FF6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443984" y="3154680"/>
            <a:ext cx="1225296" cy="914400"/>
          </a:xfrm>
          <a:prstGeom prst="line">
            <a:avLst/>
          </a:prstGeom>
          <a:ln w="25400">
            <a:solidFill>
              <a:srgbClr val="FFB3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97480" y="3035808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6B78"/>
                </a:solidFill>
                <a:latin typeface="Noto Sans CJK SC"/>
              </a:defRPr>
            </a:pPr>
            <a:r>
              <a:t>边界告警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1353312"/>
            <a:ext cx="3794760" cy="123444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153619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5C7F0"/>
                </a:solidFill>
                <a:latin typeface="Noto Sans CJK SC"/>
              </a:defRPr>
            </a:pPr>
            <a:r>
              <a:t>使命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1856231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保护区域 A 内人员与设施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2770632"/>
            <a:ext cx="3794760" cy="123444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295351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B87CFF"/>
                </a:solidFill>
                <a:latin typeface="Noto Sans CJK SC"/>
              </a:defRPr>
            </a:pPr>
            <a:r>
              <a:t>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327355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最小附带影响 · 人工确认动作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4187952"/>
            <a:ext cx="3794760" cy="169164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4370832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1D6A4"/>
                </a:solidFill>
                <a:latin typeface="Noto Sans CJK SC"/>
              </a:defRPr>
            </a:pPr>
            <a:r>
              <a:t>成功判据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4718304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✓ 目标持续可跟踪</a:t>
            </a:r>
            <a:br/>
            <a:r>
              <a:t>✓ 控制链路被阻断</a:t>
            </a:r>
            <a:br/>
            <a:r>
              <a:t>✓ 处置过程完整留痕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03 ·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第一步：MQTT 接入实时态势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691640"/>
            <a:ext cx="658368" cy="65836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MINSIM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仿真引擎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场景 / 实体 / 链路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72384" y="2084831"/>
            <a:ext cx="347472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312" y="1691640"/>
            <a:ext cx="658368" cy="65836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MQTT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消息代理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主题路由 / QoS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88736" y="2084831"/>
            <a:ext cx="347472" cy="0"/>
          </a:xfrm>
          <a:prstGeom prst="line">
            <a:avLst/>
          </a:prstGeom>
          <a:ln w="2540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55664" y="1691640"/>
            <a:ext cx="658368" cy="65836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接入服务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解析 / 降采样 / 幂等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05088" y="2084831"/>
            <a:ext cx="347472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07424" y="1417320"/>
            <a:ext cx="2395728" cy="132588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72016" y="1691640"/>
            <a:ext cx="658368" cy="658368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1572768"/>
            <a:ext cx="12344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主数据存储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1965960"/>
            <a:ext cx="123444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观测 / 状态 / 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127248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主题通道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493008"/>
            <a:ext cx="3383280" cy="65836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57530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/scenario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575304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启动想定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493008"/>
            <a:ext cx="3383280" cy="65836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357530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4D7CFE"/>
                </a:solidFill>
                <a:latin typeface="Noto Sans CJK SC"/>
              </a:defRPr>
            </a:pPr>
            <a:r>
              <a:t>/telemetry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575304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持续遥测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493008"/>
            <a:ext cx="3383280" cy="65836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3575304"/>
            <a:ext cx="12344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FFB35C"/>
                </a:solidFill>
                <a:latin typeface="Noto Sans CJK SC"/>
              </a:defRPr>
            </a:pPr>
            <a:r>
              <a:t>/command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575304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暂停 / 恢复 / 处置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6227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遥测样例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28032"/>
            <a:ext cx="10863072" cy="749808"/>
          </a:xfrm>
          <a:prstGeom prst="roundRect">
            <a:avLst/>
          </a:prstGeom>
          <a:solidFill>
            <a:srgbClr val="091B2A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983480"/>
            <a:ext cx="104241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Noto Sans CJK SC"/>
              </a:defRPr>
            </a:pPr>
            <a:r>
              <a:t>tick 123   ·   sim_time 2.46s   ·   target uav_quad_01   ·   faction UNKNOWN   ·   GNSS SIR 20 dB   ·   jammer emitting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06440"/>
            <a:ext cx="10789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0">
                <a:solidFill>
                  <a:srgbClr val="9DB1C5"/>
                </a:solidFill>
                <a:latin typeface="Noto Sans CJK SC"/>
              </a:defRPr>
            </a:pPr>
            <a:r>
              <a:t>入口只负责可信接入；业务含义由后续本体映射补充。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04 ·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第二步：把遥测映射为四层语义网络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81328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使命层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6304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保护区域安全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10512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Mission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2848" y="2176272"/>
            <a:ext cx="0" cy="219456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441448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51176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1D6A4"/>
                </a:solidFill>
                <a:latin typeface="Noto Sans CJK SC"/>
              </a:defRPr>
            </a:pPr>
            <a:r>
              <a:t>场景层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532888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探测 · 跟踪 · 威胁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880360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Scenario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2848" y="3246120"/>
            <a:ext cx="0" cy="219456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3511296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21024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B87CFF"/>
                </a:solidFill>
                <a:latin typeface="Noto Sans CJK SC"/>
              </a:defRPr>
            </a:pPr>
            <a:r>
              <a:t>方案层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602736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监视 · 压制 · 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950208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Solution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4315968"/>
            <a:ext cx="0" cy="219456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4581144"/>
            <a:ext cx="3108960" cy="786384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690872"/>
            <a:ext cx="777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FFB35C"/>
                </a:solidFill>
                <a:latin typeface="Noto Sans CJK SC"/>
              </a:defRPr>
            </a:pPr>
            <a:r>
              <a:t>效果层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672583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响应 · 成功 · 影响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020056"/>
            <a:ext cx="256032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Effect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1371600"/>
            <a:ext cx="7443216" cy="4498848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ontolog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572768"/>
            <a:ext cx="3383280" cy="33832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82127" y="1673352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实例关系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7" y="2057400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071116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2084831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进入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2057400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2071116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保护区 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51392" y="2212848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82127" y="2679192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269290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雷达 R-01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2706624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探测到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46920" y="2679192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692908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51392" y="2834640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882127" y="3300984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848" y="3314700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3328416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威胁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300984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3314700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关键设施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51392" y="3456432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882127" y="3922776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7848" y="3936491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方案 S-02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4544" y="395020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作用于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6920" y="3922776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3936491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U-01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851392" y="4078224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882127" y="4544568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27848" y="4558284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执行 E-09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24544" y="4572000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>
                <a:solidFill>
                  <a:srgbClr val="9DB1C5"/>
                </a:solidFill>
                <a:latin typeface="Noto Sans CJK SC"/>
              </a:defRPr>
            </a:pPr>
            <a:r>
              <a:t>产生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46920" y="4544568"/>
            <a:ext cx="1554480" cy="310896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0" y="4558284"/>
            <a:ext cx="146303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效果指标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51392" y="4700016"/>
            <a:ext cx="768096" cy="0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52544" y="5285232"/>
            <a:ext cx="68122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同一条 telemetry 因此获得可查询、可解释、可推理的业务语义。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05 ·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第三步：规则将观测转化为威胁结论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703320" cy="44805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35C7F0"/>
                </a:solidFill>
                <a:latin typeface="Noto Sans CJK SC"/>
              </a:defRPr>
            </a:pPr>
            <a:r>
              <a:t>证据输入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084831"/>
            <a:ext cx="502920" cy="502920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21408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进入保护区 A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98063"/>
            <a:ext cx="502920" cy="502920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身份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34639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阵营 UNKNOWN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11296"/>
            <a:ext cx="502920" cy="502920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4787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RC + GNSS 可用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24527"/>
            <a:ext cx="502920" cy="502920"/>
          </a:xfrm>
          <a:prstGeom prst="ellipse">
            <a:avLst/>
          </a:prstGeom>
          <a:solidFill>
            <a:srgbClr val="FF6B78"/>
          </a:solidFill>
          <a:ln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61103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持续接近关键设施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3182112" cy="475488"/>
          </a:xfrm>
          <a:prstGeom prst="roundRect">
            <a:avLst/>
          </a:prstGeom>
          <a:solidFill>
            <a:srgbClr val="132A3A"/>
          </a:solidFill>
          <a:ln w="12700">
            <a:solidFill>
              <a:srgbClr val="13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157216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0">
                <a:solidFill>
                  <a:srgbClr val="9DB1C5"/>
                </a:solidFill>
                <a:latin typeface="Noto Sans CJK SC"/>
              </a:defRPr>
            </a:pPr>
            <a:r>
              <a:t>事实均可回溯至原始报文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3520440"/>
            <a:ext cx="594360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102352" y="2971800"/>
            <a:ext cx="1078992" cy="1078992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RULE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3520440"/>
            <a:ext cx="566928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39712" y="1371600"/>
            <a:ext cx="4709160" cy="44805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164592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FF6B78"/>
                </a:solidFill>
                <a:latin typeface="Noto Sans CJK SC"/>
              </a:defRPr>
            </a:pPr>
            <a:r>
              <a:t>研判结果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103120"/>
            <a:ext cx="356616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400" b="1">
                <a:solidFill>
                  <a:srgbClr val="F5FAFF"/>
                </a:solidFill>
                <a:latin typeface="Noto Sans CJK SC"/>
              </a:defRPr>
            </a:pPr>
            <a:r>
              <a:t>高风险入侵目标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74320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F6B78"/>
                </a:solidFill>
                <a:latin typeface="Noto Sans CJK SC"/>
              </a:defRPr>
            </a:pPr>
            <a:r>
              <a:t>威胁分  82 / 100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0608" y="3310128"/>
            <a:ext cx="4069080" cy="10972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50608" y="3310128"/>
            <a:ext cx="3337560" cy="109728"/>
          </a:xfrm>
          <a:prstGeom prst="roundRect">
            <a:avLst/>
          </a:prstGeom>
          <a:solidFill>
            <a:srgbClr val="FF6B78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370332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结论依据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050791"/>
            <a:ext cx="3703320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区域规则命中 + 身份未知 + 链路可用 + 接近趋势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0608" y="5001768"/>
            <a:ext cx="3749039" cy="310896"/>
          </a:xfrm>
          <a:prstGeom prst="roundRect">
            <a:avLst/>
          </a:prstGeom>
          <a:solidFill>
            <a:srgbClr val="FFB35C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5015483"/>
            <a:ext cx="3657599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建议：生成低附带影响处置方案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06 ·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第四步：技能取证，模型组织候选方案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346704" cy="12801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700784"/>
            <a:ext cx="530352" cy="530352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55448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技能取证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38528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查询目标轨迹、链路和可用设备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2011680"/>
            <a:ext cx="292608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371600"/>
            <a:ext cx="3346704" cy="12801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1700784"/>
            <a:ext cx="530352" cy="530352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55448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模型归纳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938528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解释证据并比较处置路径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54112" y="2011680"/>
            <a:ext cx="292608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9872" y="1371600"/>
            <a:ext cx="3346704" cy="12801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1700784"/>
            <a:ext cx="530352" cy="530352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A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155448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5FAFF"/>
                </a:solidFill>
                <a:latin typeface="Noto Sans CJK SC"/>
              </a:defRPr>
            </a:pPr>
            <a:r>
              <a:t>人工确认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938528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确认授权范围、目标与时限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299923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候选方案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3401568"/>
            <a:ext cx="3337560" cy="1536192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566160"/>
            <a:ext cx="658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4D7CFE"/>
                </a:solidFill>
                <a:latin typeface="Noto Sans CJK SC"/>
              </a:defRPr>
            </a:pPr>
            <a:r>
              <a:t>S-01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886200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5FAFF"/>
                </a:solidFill>
                <a:latin typeface="Noto Sans CJK SC"/>
              </a:defRPr>
            </a:pPr>
            <a:r>
              <a:t>持续监视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34056" y="3547872"/>
            <a:ext cx="96012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56158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低风险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38912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保留证据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6" y="3401568"/>
            <a:ext cx="3337560" cy="1536192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3566160"/>
            <a:ext cx="658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31D6A4"/>
                </a:solidFill>
                <a:latin typeface="Noto Sans CJK SC"/>
              </a:defRPr>
            </a:pPr>
            <a:r>
              <a:t>S-02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886200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5FAFF"/>
                </a:solidFill>
                <a:latin typeface="Noto Sans CJK SC"/>
              </a:defRPr>
            </a:pPr>
            <a:r>
              <a:t>链路压制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91656" y="3547872"/>
            <a:ext cx="960120" cy="310896"/>
          </a:xfrm>
          <a:prstGeom prst="roundRect">
            <a:avLst/>
          </a:prstGeom>
          <a:solidFill>
            <a:srgbClr val="31D6A4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56158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推荐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38912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GNSS + RC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1856" y="3401568"/>
            <a:ext cx="3337560" cy="1536192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3566160"/>
            <a:ext cx="658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6B78"/>
                </a:solidFill>
                <a:latin typeface="Noto Sans CJK SC"/>
              </a:defRPr>
            </a:pPr>
            <a:r>
              <a:t>S-03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3886200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700" b="1">
                <a:solidFill>
                  <a:srgbClr val="F5FAFF"/>
                </a:solidFill>
                <a:latin typeface="Noto Sans CJK SC"/>
              </a:defRPr>
            </a:pPr>
            <a:r>
              <a:t>物理拦截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9256" y="3547872"/>
            <a:ext cx="960120" cy="310896"/>
          </a:xfrm>
          <a:prstGeom prst="roundRect">
            <a:avLst/>
          </a:prstGeom>
          <a:solidFill>
            <a:srgbClr val="FF6B78"/>
          </a:solidFill>
          <a:ln w="12700">
            <a:solidFill>
              <a:srgbClr val="FF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4976" y="3561588"/>
            <a:ext cx="86868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待授权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438912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0">
                <a:solidFill>
                  <a:srgbClr val="9DB1C5"/>
                </a:solidFill>
                <a:latin typeface="Noto Sans CJK SC"/>
              </a:defRPr>
            </a:pPr>
            <a:r>
              <a:t>高影响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" y="5285232"/>
            <a:ext cx="10881360" cy="612648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13248"/>
            <a:ext cx="10469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模型负责解释和编排；动作仍受项目权限、工具白名单与人工确认约束。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07 ·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第五步：处置命令回到仿真平台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389888"/>
            <a:ext cx="640080" cy="640080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操作员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26079" y="1389888"/>
            <a:ext cx="640080" cy="640080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本体平台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257800" y="1389888"/>
            <a:ext cx="640080" cy="640080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MQTT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89520" y="1389888"/>
            <a:ext cx="640080" cy="640080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MINSIM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21240" y="1389888"/>
            <a:ext cx="640080" cy="640080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AFF"/>
                </a:solidFill>
                <a:latin typeface="Noto Sans CJK SC"/>
              </a:defRPr>
            </a:pPr>
            <a:r>
              <a:t>MySQL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41280" y="2057400"/>
            <a:ext cx="0" cy="3630168"/>
          </a:xfrm>
          <a:prstGeom prst="line">
            <a:avLst/>
          </a:prstGeom>
          <a:ln w="12700">
            <a:solidFill>
              <a:srgbClr val="9DB1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2395728"/>
            <a:ext cx="4663440" cy="0"/>
          </a:xfrm>
          <a:prstGeom prst="line">
            <a:avLst/>
          </a:prstGeom>
          <a:ln w="25400">
            <a:solidFill>
              <a:srgbClr val="4D7C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8" y="2148840"/>
            <a:ext cx="444398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确认 S-02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246120" y="2944368"/>
            <a:ext cx="2331720" cy="0"/>
          </a:xfrm>
          <a:prstGeom prst="line">
            <a:avLst/>
          </a:prstGeom>
          <a:ln w="25400">
            <a:solidFill>
              <a:srgbClr val="B8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5848" y="2697480"/>
            <a:ext cx="211226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写入 /command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3493008"/>
            <a:ext cx="2331720" cy="0"/>
          </a:xfrm>
          <a:prstGeom prst="line">
            <a:avLst/>
          </a:prstGeom>
          <a:ln w="25400">
            <a:solidFill>
              <a:srgbClr val="35C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55848" y="3246120"/>
            <a:ext cx="211226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执行压制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246120" y="4041648"/>
            <a:ext cx="2331720" cy="0"/>
          </a:xfrm>
          <a:prstGeom prst="line">
            <a:avLst/>
          </a:prstGeom>
          <a:ln w="25400">
            <a:solidFill>
              <a:srgbClr val="FF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55848" y="3794760"/>
            <a:ext cx="2112263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返回 telemetry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46120" y="4590288"/>
            <a:ext cx="46634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55848" y="4343400"/>
            <a:ext cx="444398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落库观测与审计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14400" y="5138928"/>
            <a:ext cx="699516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4128" y="4892040"/>
            <a:ext cx="677570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效果面板刷新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907024"/>
            <a:ext cx="10881360" cy="365760"/>
          </a:xfrm>
          <a:prstGeom prst="roundRect">
            <a:avLst/>
          </a:prstGeom>
          <a:solidFill>
            <a:srgbClr val="11283B"/>
          </a:solidFill>
          <a:ln w="12700">
            <a:solidFill>
              <a:srgbClr val="112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52744"/>
            <a:ext cx="104698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200" b="1">
                <a:solidFill>
                  <a:srgbClr val="9DB1C5"/>
                </a:solidFill>
                <a:latin typeface="Noto Sans CJK SC"/>
              </a:defRPr>
            </a:pPr>
            <a:r>
              <a:t>审计链：谁在何时基于什么证据，对哪个目标执行了什么动作，结果如何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08 ·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第六步：效果量化并回写闭环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173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9DB1C5"/>
                </a:solidFill>
                <a:latin typeface="Noto Sans CJK SC"/>
              </a:defRPr>
            </a:pPr>
            <a:r>
              <a:t>处置前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处置后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74519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GNSS SIR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1828799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874519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20 dB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2075688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45152" y="1828799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874519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-8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660903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RC 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2615184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660903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已连接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2862072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45152" y="2615184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2660903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已断开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447287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目标状态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401568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447287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接近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23360" y="3648456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45152" y="3401568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447287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悬停 / 返航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233672"/>
            <a:ext cx="1234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35C7F0"/>
                </a:solidFill>
                <a:latin typeface="Noto Sans CJK SC"/>
              </a:defRPr>
            </a:pPr>
            <a:r>
              <a:t>响应时间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187952"/>
            <a:ext cx="1965960" cy="50292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0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4233672"/>
            <a:ext cx="17830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—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23360" y="4434840"/>
            <a:ext cx="548640" cy="0"/>
          </a:xfrm>
          <a:prstGeom prst="line">
            <a:avLst/>
          </a:prstGeom>
          <a:ln w="25400">
            <a:solidFill>
              <a:srgbClr val="31D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45152" y="4187952"/>
            <a:ext cx="2194560" cy="502920"/>
          </a:xfrm>
          <a:prstGeom prst="roundRect">
            <a:avLst/>
          </a:prstGeom>
          <a:solidFill>
            <a:srgbClr val="12382F"/>
          </a:solidFill>
          <a:ln w="12700">
            <a:solidFill>
              <a:srgbClr val="12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42336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31D6A4"/>
                </a:solidFill>
                <a:latin typeface="Noto Sans CJK SC"/>
              </a:defRPr>
            </a:pPr>
            <a:r>
              <a:t>4.2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1371600"/>
            <a:ext cx="4187952" cy="4480560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1673352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31D6A4"/>
                </a:solidFill>
                <a:latin typeface="Noto Sans CJK SC"/>
              </a:defRPr>
            </a:pPr>
            <a:r>
              <a:t>本次闭环</a:t>
            </a:r>
          </a:p>
        </p:txBody>
      </p:sp>
      <p:sp>
        <p:nvSpPr>
          <p:cNvPr id="36" name="Oval 35"/>
          <p:cNvSpPr/>
          <p:nvPr/>
        </p:nvSpPr>
        <p:spPr>
          <a:xfrm>
            <a:off x="8622792" y="2176272"/>
            <a:ext cx="1645920" cy="1645920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5FAFF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986784"/>
            <a:ext cx="32004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400" b="1">
                <a:solidFill>
                  <a:srgbClr val="F5FAFF"/>
                </a:solidFill>
                <a:latin typeface="Noto Sans CJK SC"/>
              </a:defRPr>
            </a:pPr>
            <a:r>
              <a:t>处置成功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617720"/>
            <a:ext cx="327355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0">
                <a:solidFill>
                  <a:srgbClr val="9DB1C5"/>
                </a:solidFill>
                <a:latin typeface="Noto Sans CJK SC"/>
              </a:defRPr>
            </a:pPr>
            <a:r>
              <a:t>指标回写 Effect 层</a:t>
            </a:r>
            <a:br/>
            <a:r>
              <a:t>成为后续规则与方案的证据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01675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B35C"/>
                </a:solidFill>
                <a:latin typeface="Noto Sans CJK SC"/>
              </a:defRPr>
            </a:pPr>
            <a:r>
              <a:t>以上数值为合成仿真示例，仅用于产品演示。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>
                <a:solidFill>
                  <a:srgbClr val="35C7F0"/>
                </a:solidFill>
                <a:latin typeface="Noto Sans CJK SC"/>
              </a:defRPr>
            </a:pPr>
            <a:r>
              <a:t>09 ·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5FAFF"/>
                </a:solidFill>
                <a:latin typeface="Noto Sans CJK SC"/>
              </a:defRPr>
            </a:pPr>
            <a:r>
              <a:t>系统页面如何对应业务闭环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2860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100" b="1">
                <a:solidFill>
                  <a:srgbClr val="9DB1C5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7548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知彼 Ontology · 反无人机业务闭环演示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56248"/>
            <a:ext cx="2788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800" b="0">
                <a:solidFill>
                  <a:srgbClr val="9DB1C5"/>
                </a:solidFill>
                <a:latin typeface="Noto Sans CJK SC"/>
              </a:defRPr>
            </a:pPr>
            <a:r>
              <a:t>合成仿真数据 · 用于产品演示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426464"/>
            <a:ext cx="502920" cy="502920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353312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项目空间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53312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选择“反无人机要地防护”项目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44168"/>
            <a:ext cx="2834640" cy="310896"/>
          </a:xfrm>
          <a:prstGeom prst="roundRect">
            <a:avLst/>
          </a:prstGeom>
          <a:solidFill>
            <a:srgbClr val="35C7F0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57884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/workspace/projects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" y="1947672"/>
            <a:ext cx="0" cy="329184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258568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数据集成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258568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查看 MQTT 连接、资产与处理链路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834640" cy="310896"/>
          </a:xfrm>
          <a:prstGeom prst="roundRect">
            <a:avLst/>
          </a:prstGeom>
          <a:solidFill>
            <a:srgbClr val="4D7CFE"/>
          </a:solidFill>
          <a:ln w="12700"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263140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连接 / 资产 / 管道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" y="2852927"/>
            <a:ext cx="0" cy="329184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85800" y="3236976"/>
            <a:ext cx="502920" cy="502920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163824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本体空间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163824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在二维拓扑中查看对象与关系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154680"/>
            <a:ext cx="2834640" cy="310896"/>
          </a:xfrm>
          <a:prstGeom prst="roundRect">
            <a:avLst/>
          </a:prstGeom>
          <a:solidFill>
            <a:srgbClr val="B87CFF"/>
          </a:solidFill>
          <a:ln w="12700"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168396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/workspace/space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1832" y="3758184"/>
            <a:ext cx="0" cy="329184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85800" y="4142231"/>
            <a:ext cx="502920" cy="502920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069079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规则与技能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069079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运行威胁规则，调用只读取证技能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059935"/>
            <a:ext cx="2834640" cy="310896"/>
          </a:xfrm>
          <a:prstGeom prst="roundRect">
            <a:avLst/>
          </a:prstGeom>
          <a:solidFill>
            <a:srgbClr val="FFB35C"/>
          </a:solidFill>
          <a:ln w="1270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073651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规则 / 技能 / Agent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" y="4663440"/>
            <a:ext cx="0" cy="329183"/>
          </a:xfrm>
          <a:prstGeom prst="line">
            <a:avLst/>
          </a:prstGeom>
          <a:ln w="25400">
            <a:solidFill>
              <a:srgbClr val="122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85800" y="5047488"/>
            <a:ext cx="502920" cy="502920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4974336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应用与审计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974336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>
                <a:solidFill>
                  <a:srgbClr val="9DB1C5"/>
                </a:solidFill>
                <a:latin typeface="Noto Sans CJK SC"/>
              </a:defRPr>
            </a:pPr>
            <a:r>
              <a:t>确认方案，查看执行状态与审计记录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4965192"/>
            <a:ext cx="2834640" cy="310896"/>
          </a:xfrm>
          <a:prstGeom prst="roundRect">
            <a:avLst/>
          </a:prstGeom>
          <a:solidFill>
            <a:srgbClr val="31D6A4"/>
          </a:solidFill>
          <a:ln w="12700"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978907"/>
            <a:ext cx="27432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5FAFF"/>
                </a:solidFill>
                <a:latin typeface="Noto Sans CJK SC"/>
              </a:defRPr>
            </a:pPr>
            <a:r>
              <a:t>应用 / 日志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925312"/>
            <a:ext cx="10863072" cy="347472"/>
          </a:xfrm>
          <a:prstGeom prst="roundRect">
            <a:avLst/>
          </a:prstGeom>
          <a:solidFill>
            <a:srgbClr val="122B42"/>
          </a:solidFill>
          <a:ln w="1270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961888"/>
            <a:ext cx="104973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5FAFF"/>
                </a:solidFill>
                <a:latin typeface="Noto Sans CJK SC"/>
              </a:defRPr>
            </a:pPr>
            <a:r>
              <a:t>建议演示时长：6 分钟｜每一步只回答一个问题：发生了什么？为什么判断？执行了什么？结果怎样？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5C7F0"/>
                </a:solidFill>
                <a:latin typeface="Noto Sans CJK SC"/>
              </a:defRPr>
            </a:pPr>
            <a:r>
              <a:t>THE CLOSED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3100" b="1">
                <a:solidFill>
                  <a:srgbClr val="F5FAFF"/>
                </a:solidFill>
                <a:latin typeface="Noto Sans CJK SC"/>
              </a:defRPr>
            </a:pPr>
            <a:r>
              <a:t>从数据流，走向可解释的业务闭环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01952"/>
            <a:ext cx="98755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0">
                <a:solidFill>
                  <a:srgbClr val="9DB1C5"/>
                </a:solidFill>
                <a:latin typeface="Noto Sans CJK SC"/>
              </a:defRPr>
            </a:pPr>
            <a:r>
              <a:t>感知数据只有进入本体语义、决策授权和效果证据链，才能成为可复用的业务能力。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980944"/>
            <a:ext cx="658368" cy="658368"/>
          </a:xfrm>
          <a:prstGeom prst="ellipse">
            <a:avLst/>
          </a:prstGeom>
          <a:solidFill>
            <a:srgbClr val="35C7F0"/>
          </a:solidFill>
          <a:ln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感知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08176" y="3310128"/>
            <a:ext cx="1444752" cy="0"/>
          </a:xfrm>
          <a:prstGeom prst="line">
            <a:avLst/>
          </a:prstGeom>
          <a:ln w="25400">
            <a:solidFill>
              <a:srgbClr val="35C7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80944" y="2980944"/>
            <a:ext cx="658368" cy="658368"/>
          </a:xfrm>
          <a:prstGeom prst="ellipse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认知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75887" y="3310128"/>
            <a:ext cx="1444753" cy="0"/>
          </a:xfrm>
          <a:prstGeom prst="line">
            <a:avLst/>
          </a:prstGeom>
          <a:ln w="25400">
            <a:solidFill>
              <a:srgbClr val="4D7CF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248656" y="2980944"/>
            <a:ext cx="658368" cy="658368"/>
          </a:xfrm>
          <a:prstGeom prst="ellipse">
            <a:avLst/>
          </a:prstGeom>
          <a:solidFill>
            <a:srgbClr val="B87CFF"/>
          </a:solidFill>
          <a:ln>
            <a:solidFill>
              <a:srgbClr val="B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决策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3310128"/>
            <a:ext cx="1444752" cy="0"/>
          </a:xfrm>
          <a:prstGeom prst="line">
            <a:avLst/>
          </a:prstGeom>
          <a:ln w="25400">
            <a:solidFill>
              <a:srgbClr val="B87C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16367" y="2980944"/>
            <a:ext cx="658368" cy="658368"/>
          </a:xfrm>
          <a:prstGeom prst="ellipse">
            <a:avLst/>
          </a:prstGeom>
          <a:solidFill>
            <a:srgbClr val="FFB35C"/>
          </a:solidFill>
          <a:ln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行动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11311" y="3310128"/>
            <a:ext cx="1444752" cy="0"/>
          </a:xfrm>
          <a:prstGeom prst="line">
            <a:avLst/>
          </a:prstGeom>
          <a:ln w="25400">
            <a:solidFill>
              <a:srgbClr val="FFB3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784080" y="2980944"/>
            <a:ext cx="658368" cy="658368"/>
          </a:xfrm>
          <a:prstGeom prst="ellipse">
            <a:avLst/>
          </a:prstGeom>
          <a:solidFill>
            <a:srgbClr val="31D6A4"/>
          </a:solidFill>
          <a:ln>
            <a:solidFill>
              <a:srgbClr val="31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3767328"/>
            <a:ext cx="868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5FAFF"/>
                </a:solidFill>
                <a:latin typeface="Noto Sans CJK SC"/>
              </a:defRPr>
            </a:pPr>
            <a:r>
              <a:t>评估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690872"/>
            <a:ext cx="10881360" cy="1042415"/>
          </a:xfrm>
          <a:prstGeom prst="roundRect">
            <a:avLst/>
          </a:prstGeom>
          <a:solidFill>
            <a:srgbClr val="0E2235"/>
          </a:solidFill>
          <a:ln w="12700">
            <a:solidFill>
              <a:srgbClr val="35C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937760"/>
            <a:ext cx="102870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5FAFF"/>
                </a:solidFill>
                <a:latin typeface="Noto Sans CJK SC"/>
              </a:defRPr>
            </a:pPr>
            <a:r>
              <a:t>下一步：将该脚本接入真实页面录屏，导出 60–90 秒产品操作动画。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4535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9DB1C5"/>
                </a:solidFill>
                <a:latin typeface="Noto Sans CJK SC"/>
              </a:defRPr>
            </a:pPr>
            <a:r>
              <a:t>知彼 Ontology · V2.2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反无人机本体业务闭环演示</dc:title>
  <dc:subject>MQTT 态势接入、本体映射、威胁研判、方案处置与效果评估</dc:subject>
  <dc:creator>知彼 Ontology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