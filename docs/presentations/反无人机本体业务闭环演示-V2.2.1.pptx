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C7F0"/>
          </a:solidFill>
          <a:ln w="12700"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73152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35C7F0"/>
                </a:solidFill>
                <a:latin typeface="Noto Sans CJK SC"/>
              </a:defRPr>
            </a:pPr>
            <a:r>
              <a:t>COUNTER-UAS · ONTOLOGY CLOSED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66294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3700" b="1">
                <a:solidFill>
                  <a:srgbClr val="F5FAFF"/>
                </a:solidFill>
                <a:latin typeface="Noto Sans CJK SC"/>
              </a:defRPr>
            </a:pPr>
            <a:r>
              <a:t>反无人机本体</a:t>
            </a:r>
            <a:br/>
            <a:r>
              <a:t>业务闭环演示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33472"/>
            <a:ext cx="80467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600" b="0">
                <a:solidFill>
                  <a:srgbClr val="9DB1C5"/>
                </a:solidFill>
                <a:latin typeface="Noto Sans CJK SC"/>
              </a:defRPr>
            </a:pPr>
            <a:r>
              <a:t>MQTT 态势接入  →  本体认知  →  策略处置  →  效果评估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3840480"/>
            <a:ext cx="621792" cy="621792"/>
          </a:xfrm>
          <a:prstGeom prst="ellipse">
            <a:avLst/>
          </a:prstGeom>
          <a:solidFill>
            <a:srgbClr val="35C7F0"/>
          </a:solidFill>
          <a:ln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AFF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26280"/>
            <a:ext cx="71323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5FAFF"/>
                </a:solidFill>
                <a:latin typeface="Noto Sans CJK SC"/>
              </a:defRPr>
            </a:pPr>
            <a:r>
              <a:t>感知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44168" y="4151376"/>
            <a:ext cx="539496" cy="0"/>
          </a:xfrm>
          <a:prstGeom prst="line">
            <a:avLst/>
          </a:prstGeom>
          <a:ln w="12700">
            <a:solidFill>
              <a:srgbClr val="9DB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947672" y="3840480"/>
            <a:ext cx="621792" cy="621792"/>
          </a:xfrm>
          <a:prstGeom prst="ellipse">
            <a:avLst/>
          </a:prstGeom>
          <a:solidFill>
            <a:srgbClr val="4D7CFE"/>
          </a:solidFill>
          <a:ln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AFF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4526280"/>
            <a:ext cx="71323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5FAFF"/>
                </a:solidFill>
                <a:latin typeface="Noto Sans CJK SC"/>
              </a:defRPr>
            </a:pPr>
            <a:r>
              <a:t>认知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06039" y="4151376"/>
            <a:ext cx="539497" cy="0"/>
          </a:xfrm>
          <a:prstGeom prst="line">
            <a:avLst/>
          </a:prstGeom>
          <a:ln w="12700">
            <a:solidFill>
              <a:srgbClr val="9DB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209544" y="3840480"/>
            <a:ext cx="621792" cy="621792"/>
          </a:xfrm>
          <a:prstGeom prst="ellipse">
            <a:avLst/>
          </a:prstGeom>
          <a:solidFill>
            <a:srgbClr val="B87CFF"/>
          </a:solidFill>
          <a:ln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AFF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3824" y="4526280"/>
            <a:ext cx="71323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5FAFF"/>
                </a:solidFill>
                <a:latin typeface="Noto Sans CJK SC"/>
              </a:defRPr>
            </a:pPr>
            <a:r>
              <a:t>决策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67911" y="4151376"/>
            <a:ext cx="539497" cy="0"/>
          </a:xfrm>
          <a:prstGeom prst="line">
            <a:avLst/>
          </a:prstGeom>
          <a:ln w="12700">
            <a:solidFill>
              <a:srgbClr val="9DB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471416" y="3840480"/>
            <a:ext cx="621792" cy="621792"/>
          </a:xfrm>
          <a:prstGeom prst="ellipse">
            <a:avLst/>
          </a:prstGeom>
          <a:solidFill>
            <a:srgbClr val="FFB35C"/>
          </a:solidFill>
          <a:ln>
            <a:solidFill>
              <a:srgbClr val="FF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AFF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4526280"/>
            <a:ext cx="71323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5FAFF"/>
                </a:solidFill>
                <a:latin typeface="Noto Sans CJK SC"/>
              </a:defRPr>
            </a:pPr>
            <a:r>
              <a:t>行动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29783" y="4151376"/>
            <a:ext cx="539496" cy="0"/>
          </a:xfrm>
          <a:prstGeom prst="line">
            <a:avLst/>
          </a:prstGeom>
          <a:ln w="12700">
            <a:solidFill>
              <a:srgbClr val="9DB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733288" y="3840480"/>
            <a:ext cx="621792" cy="621792"/>
          </a:xfrm>
          <a:prstGeom prst="ellipse">
            <a:avLst/>
          </a:prstGeom>
          <a:solidFill>
            <a:srgbClr val="31D6A4"/>
          </a:solidFill>
          <a:ln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AFF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7568" y="4526280"/>
            <a:ext cx="71323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5FAFF"/>
                </a:solidFill>
                <a:latin typeface="Noto Sans CJK SC"/>
              </a:defRPr>
            </a:pPr>
            <a:r>
              <a:t>评估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713232"/>
            <a:ext cx="3566160" cy="525780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005840"/>
            <a:ext cx="3017520" cy="30175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275320" y="4224528"/>
            <a:ext cx="25603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35C7F0"/>
                </a:solidFill>
                <a:latin typeface="Noto Sans CJK SC"/>
              </a:defRPr>
            </a:pPr>
            <a:r>
              <a:t>演示目标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590288"/>
            <a:ext cx="2578608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F5FAFF"/>
                </a:solidFill>
                <a:latin typeface="Noto Sans CJK SC"/>
              </a:defRPr>
            </a:pPr>
            <a:r>
              <a:t>让一条仿真遥测从“数据”变成可解释、可执行、可回写的业务闭环。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45352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9DB1C5"/>
                </a:solidFill>
                <a:latin typeface="Noto Sans CJK SC"/>
              </a:defRPr>
            </a:pPr>
            <a:r>
              <a:t>V2.2.1 · 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00" b="1">
                <a:solidFill>
                  <a:srgbClr val="35C7F0"/>
                </a:solidFill>
                <a:latin typeface="Noto Sans CJK SC"/>
              </a:defRPr>
            </a:pPr>
            <a:r>
              <a:t>01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F5FAFF"/>
                </a:solidFill>
                <a:latin typeface="Noto Sans CJK SC"/>
              </a:defRPr>
            </a:pPr>
            <a:r>
              <a:t>一个事件，跑通八个业务环节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122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2860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100" b="1">
                <a:solidFill>
                  <a:srgbClr val="9DB1C5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47548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知彼 Ontology · 反无人机业务闭环演示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6556248"/>
            <a:ext cx="2788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合成仿真数据 · 用于产品演示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2487168" cy="1307592"/>
          </a:xfrm>
          <a:prstGeom prst="roundRect">
            <a:avLst/>
          </a:prstGeom>
          <a:solidFill>
            <a:srgbClr val="0E2235"/>
          </a:solidFill>
          <a:ln w="19050"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1645920"/>
            <a:ext cx="475488" cy="475488"/>
          </a:xfrm>
          <a:prstGeom prst="ellipse">
            <a:avLst/>
          </a:prstGeom>
          <a:solidFill>
            <a:srgbClr val="35C7F0"/>
          </a:solidFill>
          <a:ln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581912"/>
            <a:ext cx="15087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F5FAFF"/>
                </a:solidFill>
                <a:latin typeface="Noto Sans CJK SC"/>
              </a:defRPr>
            </a:pPr>
            <a:r>
              <a:t>想定启动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75104"/>
            <a:ext cx="1508760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要地防护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54680" y="2075688"/>
            <a:ext cx="292607" cy="0"/>
          </a:xfrm>
          <a:prstGeom prst="line">
            <a:avLst/>
          </a:prstGeom>
          <a:ln w="25400">
            <a:solidFill>
              <a:srgbClr val="35C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11296" y="1417320"/>
            <a:ext cx="2487168" cy="1307592"/>
          </a:xfrm>
          <a:prstGeom prst="roundRect">
            <a:avLst/>
          </a:prstGeom>
          <a:solidFill>
            <a:srgbClr val="0E2235"/>
          </a:solidFill>
          <a:ln w="19050"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75887" y="1645920"/>
            <a:ext cx="475488" cy="475488"/>
          </a:xfrm>
          <a:prstGeom prst="ellipse">
            <a:avLst/>
          </a:prstGeom>
          <a:solidFill>
            <a:srgbClr val="35C7F0"/>
          </a:solidFill>
          <a:ln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4" y="1581912"/>
            <a:ext cx="15087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F5FAFF"/>
                </a:solidFill>
                <a:latin typeface="Noto Sans CJK SC"/>
              </a:defRPr>
            </a:pPr>
            <a:r>
              <a:t>态势接入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1104" y="1975104"/>
            <a:ext cx="1508760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MQTT 遥测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07608" y="2075688"/>
            <a:ext cx="292608" cy="0"/>
          </a:xfrm>
          <a:prstGeom prst="line">
            <a:avLst/>
          </a:prstGeom>
          <a:ln w="25400">
            <a:solidFill>
              <a:srgbClr val="35C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64224" y="1417320"/>
            <a:ext cx="2487168" cy="1307592"/>
          </a:xfrm>
          <a:prstGeom prst="roundRect">
            <a:avLst/>
          </a:prstGeom>
          <a:solidFill>
            <a:srgbClr val="0E2235"/>
          </a:solidFill>
          <a:ln w="1905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28816" y="1645920"/>
            <a:ext cx="475488" cy="475488"/>
          </a:xfrm>
          <a:prstGeom prst="ellipse">
            <a:avLst/>
          </a:prstGeom>
          <a:solidFill>
            <a:srgbClr val="4D7CFE"/>
          </a:solidFill>
          <a:ln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1581912"/>
            <a:ext cx="15087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F5FAFF"/>
                </a:solidFill>
                <a:latin typeface="Noto Sans CJK SC"/>
              </a:defRPr>
            </a:pPr>
            <a:r>
              <a:t>数据治理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32" y="1975104"/>
            <a:ext cx="1508760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校验 / 标准化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60536" y="2075688"/>
            <a:ext cx="292608" cy="0"/>
          </a:xfrm>
          <a:prstGeom prst="line">
            <a:avLst/>
          </a:prstGeom>
          <a:ln w="2540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217152" y="1417320"/>
            <a:ext cx="2487168" cy="1307592"/>
          </a:xfrm>
          <a:prstGeom prst="roundRect">
            <a:avLst/>
          </a:prstGeom>
          <a:solidFill>
            <a:srgbClr val="0E2235"/>
          </a:solidFill>
          <a:ln w="1905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81744" y="1645920"/>
            <a:ext cx="475488" cy="475488"/>
          </a:xfrm>
          <a:prstGeom prst="ellipse">
            <a:avLst/>
          </a:prstGeom>
          <a:solidFill>
            <a:srgbClr val="4D7CFE"/>
          </a:solidFill>
          <a:ln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1581912"/>
            <a:ext cx="15087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F5FAFF"/>
                </a:solidFill>
                <a:latin typeface="Noto Sans CJK SC"/>
              </a:defRPr>
            </a:pPr>
            <a:r>
              <a:t>语义映射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1975104"/>
            <a:ext cx="1508760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对象 / 关系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410712"/>
            <a:ext cx="2487168" cy="1307592"/>
          </a:xfrm>
          <a:prstGeom prst="roundRect">
            <a:avLst/>
          </a:prstGeom>
          <a:solidFill>
            <a:srgbClr val="0E2235"/>
          </a:solidFill>
          <a:ln w="19050"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2959" y="3639312"/>
            <a:ext cx="475488" cy="475488"/>
          </a:xfrm>
          <a:prstGeom prst="ellipse">
            <a:avLst/>
          </a:prstGeom>
          <a:solidFill>
            <a:srgbClr val="B87CFF"/>
          </a:solidFill>
          <a:ln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8176" y="3575304"/>
            <a:ext cx="15087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F5FAFF"/>
                </a:solidFill>
                <a:latin typeface="Noto Sans CJK SC"/>
              </a:defRPr>
            </a:pPr>
            <a:r>
              <a:t>威胁研判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8176" y="3968496"/>
            <a:ext cx="1508760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规则 + 证据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54680" y="4069080"/>
            <a:ext cx="292607" cy="0"/>
          </a:xfrm>
          <a:prstGeom prst="line">
            <a:avLst/>
          </a:prstGeom>
          <a:ln w="25400">
            <a:solidFill>
              <a:srgbClr val="B8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511296" y="3410712"/>
            <a:ext cx="2487168" cy="1307592"/>
          </a:xfrm>
          <a:prstGeom prst="roundRect">
            <a:avLst/>
          </a:prstGeom>
          <a:solidFill>
            <a:srgbClr val="0E2235"/>
          </a:solidFill>
          <a:ln w="19050"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675887" y="3639312"/>
            <a:ext cx="475488" cy="475488"/>
          </a:xfrm>
          <a:prstGeom prst="ellipse">
            <a:avLst/>
          </a:prstGeom>
          <a:solidFill>
            <a:srgbClr val="B87CFF"/>
          </a:solidFill>
          <a:ln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61104" y="3575304"/>
            <a:ext cx="15087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F5FAFF"/>
                </a:solidFill>
                <a:latin typeface="Noto Sans CJK SC"/>
              </a:defRPr>
            </a:pPr>
            <a:r>
              <a:t>方案生成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61104" y="3968496"/>
            <a:ext cx="1508760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技能 + 模型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07608" y="4069080"/>
            <a:ext cx="292608" cy="0"/>
          </a:xfrm>
          <a:prstGeom prst="line">
            <a:avLst/>
          </a:prstGeom>
          <a:ln w="25400">
            <a:solidFill>
              <a:srgbClr val="B8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364224" y="3410712"/>
            <a:ext cx="2487168" cy="1307592"/>
          </a:xfrm>
          <a:prstGeom prst="roundRect">
            <a:avLst/>
          </a:prstGeom>
          <a:solidFill>
            <a:srgbClr val="0E2235"/>
          </a:solidFill>
          <a:ln w="19050">
            <a:solidFill>
              <a:srgbClr val="FF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28816" y="3639312"/>
            <a:ext cx="475488" cy="475488"/>
          </a:xfrm>
          <a:prstGeom prst="ellipse">
            <a:avLst/>
          </a:prstGeom>
          <a:solidFill>
            <a:srgbClr val="FFB35C"/>
          </a:solidFill>
          <a:ln>
            <a:solidFill>
              <a:srgbClr val="FF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14032" y="3575304"/>
            <a:ext cx="15087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F5FAFF"/>
                </a:solidFill>
                <a:latin typeface="Noto Sans CJK SC"/>
              </a:defRPr>
            </a:pPr>
            <a:r>
              <a:t>处置执行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14032" y="3968496"/>
            <a:ext cx="1508760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命令回传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860536" y="4069080"/>
            <a:ext cx="292608" cy="0"/>
          </a:xfrm>
          <a:prstGeom prst="line">
            <a:avLst/>
          </a:prstGeom>
          <a:ln w="25400">
            <a:solidFill>
              <a:srgbClr val="FFB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17152" y="3410712"/>
            <a:ext cx="2487168" cy="1307592"/>
          </a:xfrm>
          <a:prstGeom prst="roundRect">
            <a:avLst/>
          </a:prstGeom>
          <a:solidFill>
            <a:srgbClr val="0E2235"/>
          </a:solidFill>
          <a:ln w="19050"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381744" y="3639312"/>
            <a:ext cx="475488" cy="475488"/>
          </a:xfrm>
          <a:prstGeom prst="ellipse">
            <a:avLst/>
          </a:prstGeom>
          <a:solidFill>
            <a:srgbClr val="31D6A4"/>
          </a:solidFill>
          <a:ln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3575304"/>
            <a:ext cx="15087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F5FAFF"/>
                </a:solidFill>
                <a:latin typeface="Noto Sans CJK SC"/>
              </a:defRPr>
            </a:pPr>
            <a:r>
              <a:t>效果评估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3968496"/>
            <a:ext cx="1508760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指标回写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0972800" y="2734056"/>
            <a:ext cx="0" cy="512064"/>
          </a:xfrm>
          <a:prstGeom prst="line">
            <a:avLst/>
          </a:prstGeom>
          <a:ln w="25400">
            <a:solidFill>
              <a:srgbClr val="9DB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1417320" y="4681728"/>
            <a:ext cx="8476488" cy="0"/>
          </a:xfrm>
          <a:prstGeom prst="line">
            <a:avLst/>
          </a:prstGeom>
          <a:ln w="25400">
            <a:solidFill>
              <a:srgbClr val="31D6A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246120" y="4773168"/>
            <a:ext cx="59436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31D6A4"/>
                </a:solidFill>
                <a:latin typeface="Noto Sans CJK SC"/>
              </a:defRPr>
            </a:pPr>
            <a:r>
              <a:t>持续学习：效果证据返回场景、规则和方案库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368" y="5504688"/>
            <a:ext cx="10899648" cy="621792"/>
          </a:xfrm>
          <a:prstGeom prst="roundRect">
            <a:avLst/>
          </a:prstGeom>
          <a:solidFill>
            <a:srgbClr val="122B42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" y="5623560"/>
            <a:ext cx="1046988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5FAFF"/>
                </a:solidFill>
                <a:latin typeface="Noto Sans CJK SC"/>
              </a:defRPr>
            </a:pPr>
            <a:r>
              <a:t>闭环原则：每个判断有证据 · 每个动作有授权 · 每次执行有审计 · 每个结果可复盘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00" b="1">
                <a:solidFill>
                  <a:srgbClr val="35C7F0"/>
                </a:solidFill>
                <a:latin typeface="Noto Sans CJK SC"/>
              </a:defRPr>
            </a:pPr>
            <a:r>
              <a:t>02 ·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F5FAFF"/>
                </a:solidFill>
                <a:latin typeface="Noto Sans CJK SC"/>
              </a:defRPr>
            </a:pPr>
            <a:r>
              <a:t>场景：未知无人机进入要地防护区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122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2860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100" b="1">
                <a:solidFill>
                  <a:srgbClr val="9DB1C5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47548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知彼 Ontology · 反无人机业务闭环演示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6556248"/>
            <a:ext cx="2788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合成仿真数据 · 用于产品演示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53312"/>
            <a:ext cx="6812280" cy="452628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27632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35C7F0"/>
                </a:solidFill>
                <a:latin typeface="Noto Sans CJK SC"/>
              </a:defRPr>
            </a:pPr>
            <a:r>
              <a:t>受保护区域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103120"/>
            <a:ext cx="6080760" cy="3200400"/>
          </a:xfrm>
          <a:prstGeom prst="roundRect">
            <a:avLst/>
          </a:prstGeom>
          <a:solidFill>
            <a:srgbClr val="0A1C2C"/>
          </a:solidFill>
          <a:ln w="25400"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28800" y="2743200"/>
            <a:ext cx="841248" cy="841248"/>
          </a:xfrm>
          <a:prstGeom prst="ellipse">
            <a:avLst/>
          </a:prstGeom>
          <a:solidFill>
            <a:srgbClr val="FF6B78"/>
          </a:solidFill>
          <a:ln>
            <a:solidFill>
              <a:srgbClr val="FF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UAV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75887"/>
            <a:ext cx="16459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5FAFF"/>
                </a:solidFill>
                <a:latin typeface="Noto Sans CJK SC"/>
              </a:defRPr>
            </a:pPr>
            <a:r>
              <a:t>未知目标 U-01</a:t>
            </a:r>
          </a:p>
        </p:txBody>
      </p:sp>
      <p:sp>
        <p:nvSpPr>
          <p:cNvPr id="13" name="Oval 12"/>
          <p:cNvSpPr/>
          <p:nvPr/>
        </p:nvSpPr>
        <p:spPr>
          <a:xfrm>
            <a:off x="3794760" y="3977639"/>
            <a:ext cx="713232" cy="713232"/>
          </a:xfrm>
          <a:prstGeom prst="ellipse">
            <a:avLst/>
          </a:prstGeom>
          <a:solidFill>
            <a:srgbClr val="4D7CFE"/>
          </a:solidFill>
          <a:ln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AFF"/>
                </a:solidFill>
                <a:latin typeface="Noto Sans CJK SC"/>
              </a:defRPr>
            </a:pPr>
            <a:r>
              <a:t>RAD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4736592"/>
            <a:ext cx="16459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探测设备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0" y="2542032"/>
            <a:ext cx="713232" cy="713232"/>
          </a:xfrm>
          <a:prstGeom prst="ellipse">
            <a:avLst/>
          </a:prstGeom>
          <a:solidFill>
            <a:srgbClr val="FFB35C"/>
          </a:solidFill>
          <a:ln>
            <a:solidFill>
              <a:srgbClr val="FF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AFF"/>
                </a:solidFill>
                <a:latin typeface="Noto Sans CJK SC"/>
              </a:defRPr>
            </a:pPr>
            <a:r>
              <a:t>JAM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310128"/>
            <a:ext cx="16459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压制设备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3136392"/>
            <a:ext cx="1399032" cy="1024128"/>
          </a:xfrm>
          <a:prstGeom prst="line">
            <a:avLst/>
          </a:prstGeom>
          <a:ln w="25400">
            <a:solidFill>
              <a:srgbClr val="FF6B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443984" y="3154680"/>
            <a:ext cx="1225296" cy="914400"/>
          </a:xfrm>
          <a:prstGeom prst="line">
            <a:avLst/>
          </a:prstGeom>
          <a:ln w="25400">
            <a:solidFill>
              <a:srgbClr val="FFB3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697480" y="3035808"/>
            <a:ext cx="109728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FF6B78"/>
                </a:solidFill>
                <a:latin typeface="Noto Sans CJK SC"/>
              </a:defRPr>
            </a:pPr>
            <a:r>
              <a:t>边界告警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54112" y="1353312"/>
            <a:ext cx="3794760" cy="123444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9288" y="1536192"/>
            <a:ext cx="5943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35C7F0"/>
                </a:solidFill>
                <a:latin typeface="Noto Sans CJK SC"/>
              </a:defRPr>
            </a:pPr>
            <a:r>
              <a:t>使命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9288" y="1856231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F5FAFF"/>
                </a:solidFill>
                <a:latin typeface="Noto Sans CJK SC"/>
              </a:defRPr>
            </a:pPr>
            <a:r>
              <a:t>保护区域 A 内人员与设施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54112" y="2770632"/>
            <a:ext cx="3794760" cy="123444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9288" y="2953512"/>
            <a:ext cx="5943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B87CFF"/>
                </a:solidFill>
                <a:latin typeface="Noto Sans CJK SC"/>
              </a:defRPr>
            </a:pPr>
            <a:r>
              <a:t>约束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9288" y="327355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最小附带影响 · 人工确认动作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54112" y="4187952"/>
            <a:ext cx="3794760" cy="169164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9288" y="4370832"/>
            <a:ext cx="10058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31D6A4"/>
                </a:solidFill>
                <a:latin typeface="Noto Sans CJK SC"/>
              </a:defRPr>
            </a:pPr>
            <a:r>
              <a:t>成功判据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9288" y="4718304"/>
            <a:ext cx="292608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✓ 目标持续可跟踪</a:t>
            </a:r>
            <a:br/>
            <a:r>
              <a:t>✓ 控制链路被阻断</a:t>
            </a:r>
            <a:br/>
            <a:r>
              <a:t>✓ 处置过程完整留痕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00" b="1">
                <a:solidFill>
                  <a:srgbClr val="35C7F0"/>
                </a:solidFill>
                <a:latin typeface="Noto Sans CJK SC"/>
              </a:defRPr>
            </a:pPr>
            <a:r>
              <a:t>03 · SENSE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F5FAFF"/>
                </a:solidFill>
                <a:latin typeface="Noto Sans CJK SC"/>
              </a:defRPr>
            </a:pPr>
            <a:r>
              <a:t>第一步：MQTT 接入实时态势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122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2860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100" b="1">
                <a:solidFill>
                  <a:srgbClr val="9DB1C5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47548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知彼 Ontology · 反无人机业务闭环演示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6556248"/>
            <a:ext cx="2788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合成仿真数据 · 用于产品演示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2395728" cy="132588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1691640"/>
            <a:ext cx="658368" cy="658368"/>
          </a:xfrm>
          <a:prstGeom prst="ellipse">
            <a:avLst/>
          </a:prstGeom>
          <a:solidFill>
            <a:srgbClr val="35C7F0"/>
          </a:solidFill>
          <a:ln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MINSIM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572768"/>
            <a:ext cx="1234440" cy="3017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仿真引擎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965960"/>
            <a:ext cx="123444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0">
                <a:solidFill>
                  <a:srgbClr val="9DB1C5"/>
                </a:solidFill>
                <a:latin typeface="Noto Sans CJK SC"/>
              </a:defRPr>
            </a:pPr>
            <a:r>
              <a:t>场景 / 实体 / 链路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72384" y="2084831"/>
            <a:ext cx="347472" cy="0"/>
          </a:xfrm>
          <a:prstGeom prst="line">
            <a:avLst/>
          </a:prstGeom>
          <a:ln w="25400">
            <a:solidFill>
              <a:srgbClr val="35C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74720" y="1417320"/>
            <a:ext cx="2395728" cy="132588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39312" y="1691640"/>
            <a:ext cx="658368" cy="658368"/>
          </a:xfrm>
          <a:prstGeom prst="ellipse">
            <a:avLst/>
          </a:prstGeom>
          <a:solidFill>
            <a:srgbClr val="4D7CFE"/>
          </a:solidFill>
          <a:ln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MQTT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1572768"/>
            <a:ext cx="1234440" cy="3017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消息代理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1965960"/>
            <a:ext cx="123444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0">
                <a:solidFill>
                  <a:srgbClr val="9DB1C5"/>
                </a:solidFill>
                <a:latin typeface="Noto Sans CJK SC"/>
              </a:defRPr>
            </a:pPr>
            <a:r>
              <a:t>主题路由 / QoS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88736" y="2084831"/>
            <a:ext cx="347472" cy="0"/>
          </a:xfrm>
          <a:prstGeom prst="line">
            <a:avLst/>
          </a:prstGeom>
          <a:ln w="2540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91072" y="1417320"/>
            <a:ext cx="2395728" cy="132588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55664" y="1691640"/>
            <a:ext cx="658368" cy="658368"/>
          </a:xfrm>
          <a:prstGeom prst="ellipse">
            <a:avLst/>
          </a:prstGeom>
          <a:solidFill>
            <a:srgbClr val="B87CFF"/>
          </a:solidFill>
          <a:ln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INGEST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1572768"/>
            <a:ext cx="1234440" cy="3017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接入服务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1965960"/>
            <a:ext cx="123444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0">
                <a:solidFill>
                  <a:srgbClr val="9DB1C5"/>
                </a:solidFill>
                <a:latin typeface="Noto Sans CJK SC"/>
              </a:defRPr>
            </a:pPr>
            <a:r>
              <a:t>解析 / 降采样 / 幂等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05088" y="2084831"/>
            <a:ext cx="347472" cy="0"/>
          </a:xfrm>
          <a:prstGeom prst="line">
            <a:avLst/>
          </a:prstGeom>
          <a:ln w="25400">
            <a:solidFill>
              <a:srgbClr val="B8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07424" y="1417320"/>
            <a:ext cx="2395728" cy="132588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72016" y="1691640"/>
            <a:ext cx="658368" cy="658368"/>
          </a:xfrm>
          <a:prstGeom prst="ellipse">
            <a:avLst/>
          </a:prstGeom>
          <a:solidFill>
            <a:srgbClr val="31D6A4"/>
          </a:solidFill>
          <a:ln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MYSQL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40112" y="1572768"/>
            <a:ext cx="1234440" cy="3017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主数据存储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40112" y="1965960"/>
            <a:ext cx="123444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0">
                <a:solidFill>
                  <a:srgbClr val="9DB1C5"/>
                </a:solidFill>
                <a:latin typeface="Noto Sans CJK SC"/>
              </a:defRPr>
            </a:pPr>
            <a:r>
              <a:t>观测 / 状态 / 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127248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35C7F0"/>
                </a:solidFill>
                <a:latin typeface="Noto Sans CJK SC"/>
              </a:defRPr>
            </a:pPr>
            <a:r>
              <a:t>主题通道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493008"/>
            <a:ext cx="3383280" cy="658368"/>
          </a:xfrm>
          <a:prstGeom prst="roundRect">
            <a:avLst/>
          </a:prstGeom>
          <a:solidFill>
            <a:srgbClr val="122B42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3575304"/>
            <a:ext cx="123444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35C7F0"/>
                </a:solidFill>
                <a:latin typeface="Noto Sans CJK SC"/>
              </a:defRPr>
            </a:pPr>
            <a:r>
              <a:t>/scenario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3575304"/>
            <a:ext cx="17830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F5FAFF"/>
                </a:solidFill>
                <a:latin typeface="Noto Sans CJK SC"/>
              </a:defRPr>
            </a:pPr>
            <a:r>
              <a:t>启动想定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3493008"/>
            <a:ext cx="3383280" cy="658368"/>
          </a:xfrm>
          <a:prstGeom prst="roundRect">
            <a:avLst/>
          </a:prstGeom>
          <a:solidFill>
            <a:srgbClr val="122B42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8848" y="3575304"/>
            <a:ext cx="123444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4D7CFE"/>
                </a:solidFill>
                <a:latin typeface="Noto Sans CJK SC"/>
              </a:defRPr>
            </a:pPr>
            <a:r>
              <a:t>/telemetry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3575304"/>
            <a:ext cx="17830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F5FAFF"/>
                </a:solidFill>
                <a:latin typeface="Noto Sans CJK SC"/>
              </a:defRPr>
            </a:pPr>
            <a:r>
              <a:t>持续遥测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0" y="3493008"/>
            <a:ext cx="3383280" cy="658368"/>
          </a:xfrm>
          <a:prstGeom prst="roundRect">
            <a:avLst/>
          </a:prstGeom>
          <a:solidFill>
            <a:srgbClr val="122B42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56448" y="3575304"/>
            <a:ext cx="123444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FFB35C"/>
                </a:solidFill>
                <a:latin typeface="Noto Sans CJK SC"/>
              </a:defRPr>
            </a:pPr>
            <a:r>
              <a:t>/command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3575304"/>
            <a:ext cx="17830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F5FAFF"/>
                </a:solidFill>
                <a:latin typeface="Noto Sans CJK SC"/>
              </a:defRPr>
            </a:pPr>
            <a:r>
              <a:t>暂停 / 恢复 / 处置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462272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35C7F0"/>
                </a:solidFill>
                <a:latin typeface="Noto Sans CJK SC"/>
              </a:defRPr>
            </a:pPr>
            <a:r>
              <a:t>遥测样例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4828032"/>
            <a:ext cx="10863072" cy="749808"/>
          </a:xfrm>
          <a:prstGeom prst="roundRect">
            <a:avLst/>
          </a:prstGeom>
          <a:solidFill>
            <a:srgbClr val="091B2A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4983480"/>
            <a:ext cx="104241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5FAFF"/>
                </a:solidFill>
                <a:latin typeface="Noto Sans CJK SC"/>
              </a:defRPr>
            </a:pPr>
            <a:r>
              <a:t>tick 123   ·   sim_time 2.46s   ·   target uav_quad_01   ·   faction UNKNOWN   ·   GNSS SIR 20 dB   ·   jammer emitting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806440"/>
            <a:ext cx="107899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300" b="0">
                <a:solidFill>
                  <a:srgbClr val="9DB1C5"/>
                </a:solidFill>
                <a:latin typeface="Noto Sans CJK SC"/>
              </a:defRPr>
            </a:pPr>
            <a:r>
              <a:t>入口只负责可信接入；业务含义由后续本体映射补充。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00" b="1">
                <a:solidFill>
                  <a:srgbClr val="35C7F0"/>
                </a:solidFill>
                <a:latin typeface="Noto Sans CJK SC"/>
              </a:defRPr>
            </a:pPr>
            <a:r>
              <a:t>04 · UNDERSTAND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F5FAFF"/>
                </a:solidFill>
                <a:latin typeface="Noto Sans CJK SC"/>
              </a:defRPr>
            </a:pPr>
            <a:r>
              <a:t>第二步：把遥测映射为四层语义网络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122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2860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100" b="1">
                <a:solidFill>
                  <a:srgbClr val="9DB1C5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47548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知彼 Ontology · 反无人机业务闭环演示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6556248"/>
            <a:ext cx="2788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合成仿真数据 · 用于产品演示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3108960" cy="786384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81328"/>
            <a:ext cx="7772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35C7F0"/>
                </a:solidFill>
                <a:latin typeface="Noto Sans CJK SC"/>
              </a:defRPr>
            </a:pPr>
            <a:r>
              <a:t>使命层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63040"/>
            <a:ext cx="1828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保护区域安全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810512"/>
            <a:ext cx="2560320" cy="1737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Mission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12848" y="2176272"/>
            <a:ext cx="0" cy="219456"/>
          </a:xfrm>
          <a:prstGeom prst="line">
            <a:avLst/>
          </a:prstGeom>
          <a:ln w="25400">
            <a:solidFill>
              <a:srgbClr val="35C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8368" y="2441448"/>
            <a:ext cx="3108960" cy="786384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551176"/>
            <a:ext cx="7772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31D6A4"/>
                </a:solidFill>
                <a:latin typeface="Noto Sans CJK SC"/>
              </a:defRPr>
            </a:pPr>
            <a:r>
              <a:t>场景层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2532888"/>
            <a:ext cx="1828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探测 · 跟踪 · 威胁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2880360"/>
            <a:ext cx="2560320" cy="1737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Scenario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12848" y="3246120"/>
            <a:ext cx="0" cy="219456"/>
          </a:xfrm>
          <a:prstGeom prst="line">
            <a:avLst/>
          </a:prstGeom>
          <a:ln w="25400">
            <a:solidFill>
              <a:srgbClr val="31D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58368" y="3511296"/>
            <a:ext cx="3108960" cy="786384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621024"/>
            <a:ext cx="7772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B87CFF"/>
                </a:solidFill>
                <a:latin typeface="Noto Sans CJK SC"/>
              </a:defRPr>
            </a:pPr>
            <a:r>
              <a:t>方案层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3602736"/>
            <a:ext cx="1828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监视 · 压制 · 拦截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3950208"/>
            <a:ext cx="2560320" cy="1737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Solution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12848" y="4315968"/>
            <a:ext cx="0" cy="219456"/>
          </a:xfrm>
          <a:prstGeom prst="line">
            <a:avLst/>
          </a:prstGeom>
          <a:ln w="25400">
            <a:solidFill>
              <a:srgbClr val="B8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58368" y="4581144"/>
            <a:ext cx="3108960" cy="786384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FF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690872"/>
            <a:ext cx="7772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FFB35C"/>
                </a:solidFill>
                <a:latin typeface="Noto Sans CJK SC"/>
              </a:defRPr>
            </a:pPr>
            <a:r>
              <a:t>效果层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4672583"/>
            <a:ext cx="1828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响应 · 成功 · 影响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5020056"/>
            <a:ext cx="2560320" cy="1737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Effect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96512" y="1371600"/>
            <a:ext cx="7443216" cy="4498848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ontology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1572768"/>
            <a:ext cx="3383280" cy="33832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882127" y="1673352"/>
            <a:ext cx="11430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35C7F0"/>
                </a:solidFill>
                <a:latin typeface="Noto Sans CJK SC"/>
              </a:defRPr>
            </a:pPr>
            <a:r>
              <a:t>实例关系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82127" y="2057400"/>
            <a:ext cx="960120" cy="310896"/>
          </a:xfrm>
          <a:prstGeom prst="roundRect">
            <a:avLst/>
          </a:prstGeom>
          <a:solidFill>
            <a:srgbClr val="4D7CFE"/>
          </a:solidFill>
          <a:ln w="1270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7848" y="2071116"/>
            <a:ext cx="86868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U-01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544" y="2084831"/>
            <a:ext cx="65836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900" b="1">
                <a:solidFill>
                  <a:srgbClr val="9DB1C5"/>
                </a:solidFill>
                <a:latin typeface="Noto Sans CJK SC"/>
              </a:defRPr>
            </a:pPr>
            <a:r>
              <a:t>进入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46920" y="2057400"/>
            <a:ext cx="1554480" cy="310896"/>
          </a:xfrm>
          <a:prstGeom prst="roundRect">
            <a:avLst/>
          </a:prstGeom>
          <a:solidFill>
            <a:srgbClr val="122B42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2071116"/>
            <a:ext cx="1463039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保护区 A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851392" y="2212848"/>
            <a:ext cx="768096" cy="0"/>
          </a:xfrm>
          <a:prstGeom prst="line">
            <a:avLst/>
          </a:prstGeom>
          <a:ln w="12700">
            <a:solidFill>
              <a:srgbClr val="9DB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882127" y="2679192"/>
            <a:ext cx="960120" cy="310896"/>
          </a:xfrm>
          <a:prstGeom prst="roundRect">
            <a:avLst/>
          </a:prstGeom>
          <a:solidFill>
            <a:srgbClr val="4D7CFE"/>
          </a:solidFill>
          <a:ln w="1270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27848" y="2692908"/>
            <a:ext cx="86868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雷达 R-01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24544" y="2706624"/>
            <a:ext cx="65836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900" b="1">
                <a:solidFill>
                  <a:srgbClr val="9DB1C5"/>
                </a:solidFill>
                <a:latin typeface="Noto Sans CJK SC"/>
              </a:defRPr>
            </a:pPr>
            <a:r>
              <a:t>探测到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46920" y="2679192"/>
            <a:ext cx="1554480" cy="310896"/>
          </a:xfrm>
          <a:prstGeom prst="roundRect">
            <a:avLst/>
          </a:prstGeom>
          <a:solidFill>
            <a:srgbClr val="122B42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0" y="2692908"/>
            <a:ext cx="1463039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U-01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851392" y="2834640"/>
            <a:ext cx="768096" cy="0"/>
          </a:xfrm>
          <a:prstGeom prst="line">
            <a:avLst/>
          </a:prstGeom>
          <a:ln w="12700">
            <a:solidFill>
              <a:srgbClr val="9DB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882127" y="3300984"/>
            <a:ext cx="960120" cy="310896"/>
          </a:xfrm>
          <a:prstGeom prst="roundRect">
            <a:avLst/>
          </a:prstGeom>
          <a:solidFill>
            <a:srgbClr val="4D7CFE"/>
          </a:solidFill>
          <a:ln w="1270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27848" y="3314700"/>
            <a:ext cx="86868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U-01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24544" y="3328416"/>
            <a:ext cx="65836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900" b="1">
                <a:solidFill>
                  <a:srgbClr val="9DB1C5"/>
                </a:solidFill>
                <a:latin typeface="Noto Sans CJK SC"/>
              </a:defRPr>
            </a:pPr>
            <a:r>
              <a:t>威胁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46920" y="3300984"/>
            <a:ext cx="1554480" cy="310896"/>
          </a:xfrm>
          <a:prstGeom prst="roundRect">
            <a:avLst/>
          </a:prstGeom>
          <a:solidFill>
            <a:srgbClr val="122B42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92640" y="3314700"/>
            <a:ext cx="1463039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关键设施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851392" y="3456432"/>
            <a:ext cx="768096" cy="0"/>
          </a:xfrm>
          <a:prstGeom prst="line">
            <a:avLst/>
          </a:prstGeom>
          <a:ln w="12700">
            <a:solidFill>
              <a:srgbClr val="9DB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882127" y="3922776"/>
            <a:ext cx="960120" cy="310896"/>
          </a:xfrm>
          <a:prstGeom prst="roundRect">
            <a:avLst/>
          </a:prstGeom>
          <a:solidFill>
            <a:srgbClr val="4D7CFE"/>
          </a:solidFill>
          <a:ln w="1270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27848" y="3936491"/>
            <a:ext cx="86868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方案 S-02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24544" y="3950208"/>
            <a:ext cx="65836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900" b="1">
                <a:solidFill>
                  <a:srgbClr val="9DB1C5"/>
                </a:solidFill>
                <a:latin typeface="Noto Sans CJK SC"/>
              </a:defRPr>
            </a:pPr>
            <a:r>
              <a:t>作用于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46920" y="3922776"/>
            <a:ext cx="1554480" cy="310896"/>
          </a:xfrm>
          <a:prstGeom prst="roundRect">
            <a:avLst/>
          </a:prstGeom>
          <a:solidFill>
            <a:srgbClr val="122B42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92640" y="3936491"/>
            <a:ext cx="1463039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U-01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851392" y="4078224"/>
            <a:ext cx="768096" cy="0"/>
          </a:xfrm>
          <a:prstGeom prst="line">
            <a:avLst/>
          </a:prstGeom>
          <a:ln w="12700">
            <a:solidFill>
              <a:srgbClr val="9DB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7882127" y="4544568"/>
            <a:ext cx="960120" cy="310896"/>
          </a:xfrm>
          <a:prstGeom prst="roundRect">
            <a:avLst/>
          </a:prstGeom>
          <a:solidFill>
            <a:srgbClr val="4D7CFE"/>
          </a:solidFill>
          <a:ln w="1270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27848" y="4558284"/>
            <a:ext cx="86868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执行 E-09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24544" y="4572000"/>
            <a:ext cx="65836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900" b="1">
                <a:solidFill>
                  <a:srgbClr val="9DB1C5"/>
                </a:solidFill>
                <a:latin typeface="Noto Sans CJK SC"/>
              </a:defRPr>
            </a:pPr>
            <a:r>
              <a:t>产生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46920" y="4544568"/>
            <a:ext cx="1554480" cy="310896"/>
          </a:xfrm>
          <a:prstGeom prst="roundRect">
            <a:avLst/>
          </a:prstGeom>
          <a:solidFill>
            <a:srgbClr val="122B42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92640" y="4558284"/>
            <a:ext cx="1463039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效果指标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851392" y="4700016"/>
            <a:ext cx="768096" cy="0"/>
          </a:xfrm>
          <a:prstGeom prst="line">
            <a:avLst/>
          </a:prstGeom>
          <a:ln w="12700">
            <a:solidFill>
              <a:srgbClr val="9DB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352544" y="5285232"/>
            <a:ext cx="68122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同一条 telemetry 因此获得可查询、可解释、可推理的业务语义。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00" b="1">
                <a:solidFill>
                  <a:srgbClr val="35C7F0"/>
                </a:solidFill>
                <a:latin typeface="Noto Sans CJK SC"/>
              </a:defRPr>
            </a:pPr>
            <a:r>
              <a:t>05 · REASON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F5FAFF"/>
                </a:solidFill>
                <a:latin typeface="Noto Sans CJK SC"/>
              </a:defRPr>
            </a:pPr>
            <a:r>
              <a:t>第三步：规则将观测转化为威胁结论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122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2860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100" b="1">
                <a:solidFill>
                  <a:srgbClr val="9DB1C5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47548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知彼 Ontology · 反无人机业务闭环演示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6556248"/>
            <a:ext cx="2788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合成仿真数据 · 用于产品演示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3703320" cy="448056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35C7F0"/>
                </a:solidFill>
                <a:latin typeface="Noto Sans CJK SC"/>
              </a:defRPr>
            </a:pPr>
            <a:r>
              <a:t>证据输入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084831"/>
            <a:ext cx="502920" cy="502920"/>
          </a:xfrm>
          <a:prstGeom prst="ellipse">
            <a:avLst/>
          </a:prstGeom>
          <a:solidFill>
            <a:srgbClr val="35C7F0"/>
          </a:solidFill>
          <a:ln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F"/>
                </a:solidFill>
                <a:latin typeface="Noto Sans CJK SC"/>
              </a:defRPr>
            </a:pPr>
            <a:r>
              <a:t>空间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121408"/>
            <a:ext cx="230428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进入保护区 A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798063"/>
            <a:ext cx="502920" cy="502920"/>
          </a:xfrm>
          <a:prstGeom prst="ellipse">
            <a:avLst/>
          </a:prstGeom>
          <a:solidFill>
            <a:srgbClr val="4D7CFE"/>
          </a:solidFill>
          <a:ln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F"/>
                </a:solidFill>
                <a:latin typeface="Noto Sans CJK SC"/>
              </a:defRPr>
            </a:pPr>
            <a:r>
              <a:t>身份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834639"/>
            <a:ext cx="230428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阵营 UNKNOWN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511296"/>
            <a:ext cx="502920" cy="502920"/>
          </a:xfrm>
          <a:prstGeom prst="ellipse">
            <a:avLst/>
          </a:prstGeom>
          <a:solidFill>
            <a:srgbClr val="B87CFF"/>
          </a:solidFill>
          <a:ln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F"/>
                </a:solidFill>
                <a:latin typeface="Noto Sans CJK SC"/>
              </a:defRPr>
            </a:pPr>
            <a:r>
              <a:t>链路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547872"/>
            <a:ext cx="230428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RC + GNSS 可用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224527"/>
            <a:ext cx="502920" cy="502920"/>
          </a:xfrm>
          <a:prstGeom prst="ellipse">
            <a:avLst/>
          </a:prstGeom>
          <a:solidFill>
            <a:srgbClr val="FF6B78"/>
          </a:solidFill>
          <a:ln>
            <a:solidFill>
              <a:srgbClr val="FF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F"/>
                </a:solidFill>
                <a:latin typeface="Noto Sans CJK SC"/>
              </a:defRPr>
            </a:pPr>
            <a:r>
              <a:t>行为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261103"/>
            <a:ext cx="230428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持续接近关键设施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074920"/>
            <a:ext cx="3182112" cy="475488"/>
          </a:xfrm>
          <a:prstGeom prst="roundRect">
            <a:avLst/>
          </a:prstGeom>
          <a:solidFill>
            <a:srgbClr val="132A3A"/>
          </a:solidFill>
          <a:ln w="12700">
            <a:solidFill>
              <a:srgbClr val="13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5157216"/>
            <a:ext cx="2926080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0">
                <a:solidFill>
                  <a:srgbClr val="9DB1C5"/>
                </a:solidFill>
                <a:latin typeface="Noto Sans CJK SC"/>
              </a:defRPr>
            </a:pPr>
            <a:r>
              <a:t>事实均可回溯至原始报文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80560" y="3520440"/>
            <a:ext cx="594360" cy="0"/>
          </a:xfrm>
          <a:prstGeom prst="line">
            <a:avLst/>
          </a:prstGeom>
          <a:ln w="25400">
            <a:solidFill>
              <a:srgbClr val="35C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102352" y="2971800"/>
            <a:ext cx="1078992" cy="1078992"/>
          </a:xfrm>
          <a:prstGeom prst="ellipse">
            <a:avLst/>
          </a:prstGeom>
          <a:solidFill>
            <a:srgbClr val="B87CFF"/>
          </a:solidFill>
          <a:ln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RULE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17920" y="3520440"/>
            <a:ext cx="566928" cy="0"/>
          </a:xfrm>
          <a:prstGeom prst="line">
            <a:avLst/>
          </a:prstGeom>
          <a:ln w="25400">
            <a:solidFill>
              <a:srgbClr val="B8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839712" y="1371600"/>
            <a:ext cx="4709160" cy="448056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FF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0608" y="1645920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FF6B78"/>
                </a:solidFill>
                <a:latin typeface="Noto Sans CJK SC"/>
              </a:defRPr>
            </a:pPr>
            <a:r>
              <a:t>研判结果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2103120"/>
            <a:ext cx="356616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400" b="1">
                <a:solidFill>
                  <a:srgbClr val="F5FAFF"/>
                </a:solidFill>
                <a:latin typeface="Noto Sans CJK SC"/>
              </a:defRPr>
            </a:pPr>
            <a:r>
              <a:t>高风险入侵目标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608" y="2743200"/>
            <a:ext cx="21945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700" b="1">
                <a:solidFill>
                  <a:srgbClr val="FF6B78"/>
                </a:solidFill>
                <a:latin typeface="Noto Sans CJK SC"/>
              </a:defRPr>
            </a:pPr>
            <a:r>
              <a:t>威胁分  82 / 100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50608" y="3310128"/>
            <a:ext cx="4069080" cy="109728"/>
          </a:xfrm>
          <a:prstGeom prst="roundRect">
            <a:avLst/>
          </a:prstGeom>
          <a:solidFill>
            <a:srgbClr val="122B42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50608" y="3310128"/>
            <a:ext cx="3337560" cy="109728"/>
          </a:xfrm>
          <a:prstGeom prst="roundRect">
            <a:avLst/>
          </a:prstGeom>
          <a:solidFill>
            <a:srgbClr val="FF6B78"/>
          </a:solidFill>
          <a:ln w="12700">
            <a:solidFill>
              <a:srgbClr val="FF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8" y="3703320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9DB1C5"/>
                </a:solidFill>
                <a:latin typeface="Noto Sans CJK SC"/>
              </a:defRPr>
            </a:pPr>
            <a:r>
              <a:t>结论依据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8" y="4050791"/>
            <a:ext cx="3703320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区域规则命中 + 身份未知 + 链路可用 + 接近趋势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50608" y="5001768"/>
            <a:ext cx="3749039" cy="310896"/>
          </a:xfrm>
          <a:prstGeom prst="roundRect">
            <a:avLst/>
          </a:prstGeom>
          <a:solidFill>
            <a:srgbClr val="FFB35C"/>
          </a:solidFill>
          <a:ln w="12700">
            <a:solidFill>
              <a:srgbClr val="FF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96328" y="5015483"/>
            <a:ext cx="3657599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建议：生成低附带影响处置方案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00" b="1">
                <a:solidFill>
                  <a:srgbClr val="35C7F0"/>
                </a:solidFill>
                <a:latin typeface="Noto Sans CJK SC"/>
              </a:defRPr>
            </a:pPr>
            <a:r>
              <a:t>06 · DECIDE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F5FAFF"/>
                </a:solidFill>
                <a:latin typeface="Noto Sans CJK SC"/>
              </a:defRPr>
            </a:pPr>
            <a:r>
              <a:t>第四步：技能取证，模型组织候选方案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122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2860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100" b="1">
                <a:solidFill>
                  <a:srgbClr val="9DB1C5"/>
                </a:solidFill>
                <a:latin typeface="Noto Sans CJK SC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47548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知彼 Ontology · 反无人机业务闭环演示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6556248"/>
            <a:ext cx="2788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合成仿真数据 · 用于产品演示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3346704" cy="128016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700784"/>
            <a:ext cx="530352" cy="530352"/>
          </a:xfrm>
          <a:prstGeom prst="ellipse">
            <a:avLst/>
          </a:prstGeom>
          <a:solidFill>
            <a:srgbClr val="35C7F0"/>
          </a:solidFill>
          <a:ln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1554480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F5FAFF"/>
                </a:solidFill>
                <a:latin typeface="Noto Sans CJK SC"/>
              </a:defRPr>
            </a:pPr>
            <a:r>
              <a:t>技能取证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938528"/>
            <a:ext cx="21488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查询目标轨迹、链路和可用设备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23360" y="2011680"/>
            <a:ext cx="292608" cy="0"/>
          </a:xfrm>
          <a:prstGeom prst="line">
            <a:avLst/>
          </a:prstGeom>
          <a:ln w="25400">
            <a:solidFill>
              <a:srgbClr val="35C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89120" y="1371600"/>
            <a:ext cx="3346704" cy="128016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1700784"/>
            <a:ext cx="530352" cy="530352"/>
          </a:xfrm>
          <a:prstGeom prst="ellipse">
            <a:avLst/>
          </a:prstGeom>
          <a:solidFill>
            <a:srgbClr val="B87CFF"/>
          </a:solidFill>
          <a:ln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554480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F5FAFF"/>
                </a:solidFill>
                <a:latin typeface="Noto Sans CJK SC"/>
              </a:defRPr>
            </a:pPr>
            <a:r>
              <a:t>模型归纳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1938528"/>
            <a:ext cx="21488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解释证据并比较处置路径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54112" y="2011680"/>
            <a:ext cx="292608" cy="0"/>
          </a:xfrm>
          <a:prstGeom prst="line">
            <a:avLst/>
          </a:prstGeom>
          <a:ln w="25400">
            <a:solidFill>
              <a:srgbClr val="B8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19872" y="1371600"/>
            <a:ext cx="3346704" cy="128016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FF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2752" y="1700784"/>
            <a:ext cx="530352" cy="530352"/>
          </a:xfrm>
          <a:prstGeom prst="ellipse">
            <a:avLst/>
          </a:prstGeom>
          <a:solidFill>
            <a:srgbClr val="FFB35C"/>
          </a:solidFill>
          <a:ln>
            <a:solidFill>
              <a:srgbClr val="FF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1554480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F5FAFF"/>
                </a:solidFill>
                <a:latin typeface="Noto Sans CJK SC"/>
              </a:defRPr>
            </a:pPr>
            <a:r>
              <a:t>人工确认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1938528"/>
            <a:ext cx="21488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确认授权范围、目标与时限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2999232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35C7F0"/>
                </a:solidFill>
                <a:latin typeface="Noto Sans CJK SC"/>
              </a:defRPr>
            </a:pPr>
            <a:r>
              <a:t>候选方案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" y="3401568"/>
            <a:ext cx="3337560" cy="1536192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3566160"/>
            <a:ext cx="6583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4D7CFE"/>
                </a:solidFill>
                <a:latin typeface="Noto Sans CJK SC"/>
              </a:defRPr>
            </a:pPr>
            <a:r>
              <a:t>S-01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3886200"/>
            <a:ext cx="15544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700" b="1">
                <a:solidFill>
                  <a:srgbClr val="F5FAFF"/>
                </a:solidFill>
                <a:latin typeface="Noto Sans CJK SC"/>
              </a:defRPr>
            </a:pPr>
            <a:r>
              <a:t>持续监视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34056" y="3547872"/>
            <a:ext cx="960120" cy="310896"/>
          </a:xfrm>
          <a:prstGeom prst="roundRect">
            <a:avLst/>
          </a:prstGeom>
          <a:solidFill>
            <a:srgbClr val="4D7CFE"/>
          </a:solidFill>
          <a:ln w="1270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561588"/>
            <a:ext cx="86868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低风险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4389120"/>
            <a:ext cx="25603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保留证据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6" y="3401568"/>
            <a:ext cx="3337560" cy="1536192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17136" y="3566160"/>
            <a:ext cx="6583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31D6A4"/>
                </a:solidFill>
                <a:latin typeface="Noto Sans CJK SC"/>
              </a:defRPr>
            </a:pPr>
            <a:r>
              <a:t>S-02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3886200"/>
            <a:ext cx="15544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700" b="1">
                <a:solidFill>
                  <a:srgbClr val="F5FAFF"/>
                </a:solidFill>
                <a:latin typeface="Noto Sans CJK SC"/>
              </a:defRPr>
            </a:pPr>
            <a:r>
              <a:t>链路压制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91656" y="3547872"/>
            <a:ext cx="960120" cy="310896"/>
          </a:xfrm>
          <a:prstGeom prst="roundRect">
            <a:avLst/>
          </a:prstGeom>
          <a:solidFill>
            <a:srgbClr val="31D6A4"/>
          </a:solidFill>
          <a:ln w="12700"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3561588"/>
            <a:ext cx="86868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推荐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7136" y="4389120"/>
            <a:ext cx="25603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GNSS + RC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91856" y="3401568"/>
            <a:ext cx="3337560" cy="1536192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FF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74736" y="3566160"/>
            <a:ext cx="6583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FF6B78"/>
                </a:solidFill>
                <a:latin typeface="Noto Sans CJK SC"/>
              </a:defRPr>
            </a:pPr>
            <a:r>
              <a:t>S-03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74736" y="3886200"/>
            <a:ext cx="15544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700" b="1">
                <a:solidFill>
                  <a:srgbClr val="F5FAFF"/>
                </a:solidFill>
                <a:latin typeface="Noto Sans CJK SC"/>
              </a:defRPr>
            </a:pPr>
            <a:r>
              <a:t>物理拦截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49256" y="3547872"/>
            <a:ext cx="960120" cy="310896"/>
          </a:xfrm>
          <a:prstGeom prst="roundRect">
            <a:avLst/>
          </a:prstGeom>
          <a:solidFill>
            <a:srgbClr val="FF6B78"/>
          </a:solidFill>
          <a:ln w="12700">
            <a:solidFill>
              <a:srgbClr val="FF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94976" y="3561588"/>
            <a:ext cx="86868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待授权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74736" y="4389120"/>
            <a:ext cx="25603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高影响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6656" y="5285232"/>
            <a:ext cx="10881360" cy="612648"/>
          </a:xfrm>
          <a:prstGeom prst="roundRect">
            <a:avLst/>
          </a:prstGeom>
          <a:solidFill>
            <a:srgbClr val="122B42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5413248"/>
            <a:ext cx="1046988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模型负责解释和编排；动作仍受项目权限、工具白名单与人工确认约束。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00" b="1">
                <a:solidFill>
                  <a:srgbClr val="35C7F0"/>
                </a:solidFill>
                <a:latin typeface="Noto Sans CJK SC"/>
              </a:defRPr>
            </a:pPr>
            <a:r>
              <a:t>07 · 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F5FAFF"/>
                </a:solidFill>
                <a:latin typeface="Noto Sans CJK SC"/>
              </a:defRPr>
            </a:pPr>
            <a:r>
              <a:t>第五步：处置命令回到仿真平台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122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2860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100" b="1">
                <a:solidFill>
                  <a:srgbClr val="9DB1C5"/>
                </a:solidFill>
                <a:latin typeface="Noto Sans CJK SC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47548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知彼 Ontology · 反无人机业务闭环演示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6556248"/>
            <a:ext cx="2788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合成仿真数据 · 用于产品演示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389888"/>
            <a:ext cx="640080" cy="640080"/>
          </a:xfrm>
          <a:prstGeom prst="ellipse">
            <a:avLst/>
          </a:prstGeom>
          <a:solidFill>
            <a:srgbClr val="4D7CFE"/>
          </a:solidFill>
          <a:ln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F"/>
                </a:solidFill>
                <a:latin typeface="Noto Sans CJK SC"/>
              </a:defRPr>
            </a:pPr>
            <a:r>
              <a:t>操作员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2057400"/>
            <a:ext cx="0" cy="3630168"/>
          </a:xfrm>
          <a:prstGeom prst="line">
            <a:avLst/>
          </a:prstGeom>
          <a:ln w="12700">
            <a:solidFill>
              <a:srgbClr val="9DB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926079" y="1389888"/>
            <a:ext cx="640080" cy="640080"/>
          </a:xfrm>
          <a:prstGeom prst="ellipse">
            <a:avLst/>
          </a:prstGeom>
          <a:solidFill>
            <a:srgbClr val="B87CFF"/>
          </a:solidFill>
          <a:ln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F"/>
                </a:solidFill>
                <a:latin typeface="Noto Sans CJK SC"/>
              </a:defRPr>
            </a:pPr>
            <a:r>
              <a:t>本体平台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46120" y="2057400"/>
            <a:ext cx="0" cy="3630168"/>
          </a:xfrm>
          <a:prstGeom prst="line">
            <a:avLst/>
          </a:prstGeom>
          <a:ln w="12700">
            <a:solidFill>
              <a:srgbClr val="9DB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257800" y="1389888"/>
            <a:ext cx="640080" cy="640080"/>
          </a:xfrm>
          <a:prstGeom prst="ellipse">
            <a:avLst/>
          </a:prstGeom>
          <a:solidFill>
            <a:srgbClr val="35C7F0"/>
          </a:solidFill>
          <a:ln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F"/>
                </a:solidFill>
                <a:latin typeface="Noto Sans CJK SC"/>
              </a:defRPr>
            </a:pPr>
            <a:r>
              <a:t>MQTT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77840" y="2057400"/>
            <a:ext cx="0" cy="3630168"/>
          </a:xfrm>
          <a:prstGeom prst="line">
            <a:avLst/>
          </a:prstGeom>
          <a:ln w="12700">
            <a:solidFill>
              <a:srgbClr val="9DB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89520" y="1389888"/>
            <a:ext cx="640080" cy="640080"/>
          </a:xfrm>
          <a:prstGeom prst="ellipse">
            <a:avLst/>
          </a:prstGeom>
          <a:solidFill>
            <a:srgbClr val="FFB35C"/>
          </a:solidFill>
          <a:ln>
            <a:solidFill>
              <a:srgbClr val="FF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F"/>
                </a:solidFill>
                <a:latin typeface="Noto Sans CJK SC"/>
              </a:defRPr>
            </a:pPr>
            <a:r>
              <a:t>MINSIM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09560" y="2057400"/>
            <a:ext cx="0" cy="3630168"/>
          </a:xfrm>
          <a:prstGeom prst="line">
            <a:avLst/>
          </a:prstGeom>
          <a:ln w="12700">
            <a:solidFill>
              <a:srgbClr val="9DB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921240" y="1389888"/>
            <a:ext cx="640080" cy="640080"/>
          </a:xfrm>
          <a:prstGeom prst="ellipse">
            <a:avLst/>
          </a:prstGeom>
          <a:solidFill>
            <a:srgbClr val="31D6A4"/>
          </a:solidFill>
          <a:ln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F"/>
                </a:solidFill>
                <a:latin typeface="Noto Sans CJK SC"/>
              </a:defRPr>
            </a:pPr>
            <a:r>
              <a:t>MySQL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241280" y="2057400"/>
            <a:ext cx="0" cy="3630168"/>
          </a:xfrm>
          <a:prstGeom prst="line">
            <a:avLst/>
          </a:prstGeom>
          <a:ln w="12700">
            <a:solidFill>
              <a:srgbClr val="9DB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4400" y="2395728"/>
            <a:ext cx="4663440" cy="0"/>
          </a:xfrm>
          <a:prstGeom prst="line">
            <a:avLst/>
          </a:prstGeom>
          <a:ln w="2540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4128" y="2148840"/>
            <a:ext cx="4443983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确认 S-02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246120" y="2944368"/>
            <a:ext cx="2331720" cy="0"/>
          </a:xfrm>
          <a:prstGeom prst="line">
            <a:avLst/>
          </a:prstGeom>
          <a:ln w="25400">
            <a:solidFill>
              <a:srgbClr val="B8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55848" y="2697480"/>
            <a:ext cx="2112263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写入 /command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46120" y="3493008"/>
            <a:ext cx="2331720" cy="0"/>
          </a:xfrm>
          <a:prstGeom prst="line">
            <a:avLst/>
          </a:prstGeom>
          <a:ln w="25400">
            <a:solidFill>
              <a:srgbClr val="35C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55848" y="3246120"/>
            <a:ext cx="2112263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执行压制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246120" y="4041648"/>
            <a:ext cx="2331720" cy="0"/>
          </a:xfrm>
          <a:prstGeom prst="line">
            <a:avLst/>
          </a:prstGeom>
          <a:ln w="25400">
            <a:solidFill>
              <a:srgbClr val="FFB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355848" y="3794760"/>
            <a:ext cx="2112263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返回 telemetry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246120" y="4590288"/>
            <a:ext cx="4663440" cy="0"/>
          </a:xfrm>
          <a:prstGeom prst="line">
            <a:avLst/>
          </a:prstGeom>
          <a:ln w="25400">
            <a:solidFill>
              <a:srgbClr val="31D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355848" y="4343400"/>
            <a:ext cx="4443984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落库观测与审计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914400" y="5138928"/>
            <a:ext cx="6995160" cy="0"/>
          </a:xfrm>
          <a:prstGeom prst="line">
            <a:avLst/>
          </a:prstGeom>
          <a:ln w="25400">
            <a:solidFill>
              <a:srgbClr val="31D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24128" y="4892040"/>
            <a:ext cx="6775704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效果面板刷新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907024"/>
            <a:ext cx="10881360" cy="365760"/>
          </a:xfrm>
          <a:prstGeom prst="roundRect">
            <a:avLst/>
          </a:prstGeom>
          <a:solidFill>
            <a:srgbClr val="11283B"/>
          </a:solidFill>
          <a:ln w="12700">
            <a:solidFill>
              <a:srgbClr val="1128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952744"/>
            <a:ext cx="104698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9DB1C5"/>
                </a:solidFill>
                <a:latin typeface="Noto Sans CJK SC"/>
              </a:defRPr>
            </a:pPr>
            <a:r>
              <a:t>审计链：谁在何时基于什么证据，对哪个目标执行了什么动作，结果如何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00" b="1">
                <a:solidFill>
                  <a:srgbClr val="35C7F0"/>
                </a:solidFill>
                <a:latin typeface="Noto Sans CJK SC"/>
              </a:defRPr>
            </a:pPr>
            <a:r>
              <a:t>08 · MEASURE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F5FAFF"/>
                </a:solidFill>
                <a:latin typeface="Noto Sans CJK SC"/>
              </a:defRPr>
            </a:pPr>
            <a:r>
              <a:t>第六步：效果量化并回写闭环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122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2860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100" b="1">
                <a:solidFill>
                  <a:srgbClr val="9DB1C5"/>
                </a:solidFill>
                <a:latin typeface="Noto Sans CJK SC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47548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知彼 Ontology · 反无人机业务闭环演示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6556248"/>
            <a:ext cx="2788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合成仿真数据 · 用于产品演示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41732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9DB1C5"/>
                </a:solidFill>
                <a:latin typeface="Noto Sans CJK SC"/>
              </a:defRPr>
            </a:pPr>
            <a:r>
              <a:t>处置前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41732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31D6A4"/>
                </a:solidFill>
                <a:latin typeface="Noto Sans CJK SC"/>
              </a:defRPr>
            </a:pPr>
            <a:r>
              <a:t>处置后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874519"/>
            <a:ext cx="123444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35C7F0"/>
                </a:solidFill>
                <a:latin typeface="Noto Sans CJK SC"/>
              </a:defRPr>
            </a:pPr>
            <a:r>
              <a:t>GNSS SIR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1828799"/>
            <a:ext cx="1965960" cy="50292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0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1874519"/>
            <a:ext cx="17830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20 dB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23360" y="2075688"/>
            <a:ext cx="548640" cy="0"/>
          </a:xfrm>
          <a:prstGeom prst="line">
            <a:avLst/>
          </a:prstGeom>
          <a:ln w="25400">
            <a:solidFill>
              <a:srgbClr val="31D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45152" y="1828799"/>
            <a:ext cx="2194560" cy="502920"/>
          </a:xfrm>
          <a:prstGeom prst="roundRect">
            <a:avLst/>
          </a:prstGeom>
          <a:solidFill>
            <a:srgbClr val="12382F"/>
          </a:solidFill>
          <a:ln w="12700">
            <a:solidFill>
              <a:srgbClr val="12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874519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31D6A4"/>
                </a:solidFill>
                <a:latin typeface="Noto Sans CJK SC"/>
              </a:defRPr>
            </a:pPr>
            <a:r>
              <a:t>-8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660903"/>
            <a:ext cx="123444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35C7F0"/>
                </a:solidFill>
                <a:latin typeface="Noto Sans CJK SC"/>
              </a:defRPr>
            </a:pPr>
            <a:r>
              <a:t>RC 链路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65960" y="2615184"/>
            <a:ext cx="1965960" cy="50292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0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2660903"/>
            <a:ext cx="17830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已连接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23360" y="2862072"/>
            <a:ext cx="548640" cy="0"/>
          </a:xfrm>
          <a:prstGeom prst="line">
            <a:avLst/>
          </a:prstGeom>
          <a:ln w="25400">
            <a:solidFill>
              <a:srgbClr val="31D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45152" y="2615184"/>
            <a:ext cx="2194560" cy="502920"/>
          </a:xfrm>
          <a:prstGeom prst="roundRect">
            <a:avLst/>
          </a:prstGeom>
          <a:solidFill>
            <a:srgbClr val="12382F"/>
          </a:solidFill>
          <a:ln w="12700">
            <a:solidFill>
              <a:srgbClr val="12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2" y="2660903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31D6A4"/>
                </a:solidFill>
                <a:latin typeface="Noto Sans CJK SC"/>
              </a:defRPr>
            </a:pPr>
            <a:r>
              <a:t>已断开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447287"/>
            <a:ext cx="123444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35C7F0"/>
                </a:solidFill>
                <a:latin typeface="Noto Sans CJK SC"/>
              </a:defRPr>
            </a:pPr>
            <a:r>
              <a:t>目标状态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65960" y="3401568"/>
            <a:ext cx="1965960" cy="50292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0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400" y="3447287"/>
            <a:ext cx="17830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接近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023360" y="3648456"/>
            <a:ext cx="548640" cy="0"/>
          </a:xfrm>
          <a:prstGeom prst="line">
            <a:avLst/>
          </a:prstGeom>
          <a:ln w="25400">
            <a:solidFill>
              <a:srgbClr val="31D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645152" y="3401568"/>
            <a:ext cx="2194560" cy="502920"/>
          </a:xfrm>
          <a:prstGeom prst="roundRect">
            <a:avLst/>
          </a:prstGeom>
          <a:solidFill>
            <a:srgbClr val="12382F"/>
          </a:solidFill>
          <a:ln w="12700">
            <a:solidFill>
              <a:srgbClr val="12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6592" y="3447287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31D6A4"/>
                </a:solidFill>
                <a:latin typeface="Noto Sans CJK SC"/>
              </a:defRPr>
            </a:pPr>
            <a:r>
              <a:t>悬停 / 返航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233672"/>
            <a:ext cx="123444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35C7F0"/>
                </a:solidFill>
                <a:latin typeface="Noto Sans CJK SC"/>
              </a:defRPr>
            </a:pPr>
            <a:r>
              <a:t>响应时间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65960" y="4187952"/>
            <a:ext cx="1965960" cy="50292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0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57400" y="4233672"/>
            <a:ext cx="17830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—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023360" y="4434840"/>
            <a:ext cx="548640" cy="0"/>
          </a:xfrm>
          <a:prstGeom prst="line">
            <a:avLst/>
          </a:prstGeom>
          <a:ln w="25400">
            <a:solidFill>
              <a:srgbClr val="31D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645152" y="4187952"/>
            <a:ext cx="2194560" cy="502920"/>
          </a:xfrm>
          <a:prstGeom prst="roundRect">
            <a:avLst/>
          </a:prstGeom>
          <a:solidFill>
            <a:srgbClr val="12382F"/>
          </a:solidFill>
          <a:ln w="12700">
            <a:solidFill>
              <a:srgbClr val="12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4233672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31D6A4"/>
                </a:solidFill>
                <a:latin typeface="Noto Sans CJK SC"/>
              </a:defRPr>
            </a:pPr>
            <a:r>
              <a:t>4.2 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60920" y="1371600"/>
            <a:ext cx="4187952" cy="448056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1673352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31D6A4"/>
                </a:solidFill>
                <a:latin typeface="Noto Sans CJK SC"/>
              </a:defRPr>
            </a:pPr>
            <a:r>
              <a:t>本次闭环</a:t>
            </a:r>
          </a:p>
        </p:txBody>
      </p:sp>
      <p:sp>
        <p:nvSpPr>
          <p:cNvPr id="36" name="Oval 35"/>
          <p:cNvSpPr/>
          <p:nvPr/>
        </p:nvSpPr>
        <p:spPr>
          <a:xfrm>
            <a:off x="8622792" y="2176272"/>
            <a:ext cx="1645920" cy="1645920"/>
          </a:xfrm>
          <a:prstGeom prst="ellipse">
            <a:avLst/>
          </a:prstGeom>
          <a:solidFill>
            <a:srgbClr val="31D6A4"/>
          </a:solidFill>
          <a:ln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5FAFF"/>
                </a:solidFill>
                <a:latin typeface="Noto Sans CJK SC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3986784"/>
            <a:ext cx="32004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400" b="1">
                <a:solidFill>
                  <a:srgbClr val="F5FAFF"/>
                </a:solidFill>
                <a:latin typeface="Noto Sans CJK SC"/>
              </a:defRPr>
            </a:pPr>
            <a:r>
              <a:t>处置成功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8120" y="4617720"/>
            <a:ext cx="327355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300" b="0">
                <a:solidFill>
                  <a:srgbClr val="9DB1C5"/>
                </a:solidFill>
                <a:latin typeface="Noto Sans CJK SC"/>
              </a:defRPr>
            </a:pPr>
            <a:r>
              <a:t>指标回写 Effect 层</a:t>
            </a:r>
            <a:br/>
            <a:r>
              <a:t>成为后续规则与方案的证据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016752"/>
            <a:ext cx="5943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FFB35C"/>
                </a:solidFill>
                <a:latin typeface="Noto Sans CJK SC"/>
              </a:defRPr>
            </a:pPr>
            <a:r>
              <a:t>以上数值为合成仿真示例，仅用于产品演示。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00" b="1">
                <a:solidFill>
                  <a:srgbClr val="35C7F0"/>
                </a:solidFill>
                <a:latin typeface="Noto Sans CJK SC"/>
              </a:defRPr>
            </a:pPr>
            <a:r>
              <a:t>09 · PRODUCT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F5FAFF"/>
                </a:solidFill>
                <a:latin typeface="Noto Sans CJK SC"/>
              </a:defRPr>
            </a:pPr>
            <a:r>
              <a:t>系统页面如何对应业务闭环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122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2860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100" b="1">
                <a:solidFill>
                  <a:srgbClr val="9DB1C5"/>
                </a:solidFill>
                <a:latin typeface="Noto Sans CJK SC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47548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知彼 Ontology · 反无人机业务闭环演示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6556248"/>
            <a:ext cx="2788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合成仿真数据 · 用于产品演示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426464"/>
            <a:ext cx="502920" cy="502920"/>
          </a:xfrm>
          <a:prstGeom prst="ellipse">
            <a:avLst/>
          </a:prstGeom>
          <a:solidFill>
            <a:srgbClr val="35C7F0"/>
          </a:solidFill>
          <a:ln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353312"/>
            <a:ext cx="12344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场景工作台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53312"/>
            <a:ext cx="50749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9DB1C5"/>
                </a:solidFill>
                <a:latin typeface="Noto Sans CJK SC"/>
              </a:defRPr>
            </a:pPr>
            <a:r>
              <a:t>进入“无人机反制处置”主场景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344168"/>
            <a:ext cx="2834640" cy="310896"/>
          </a:xfrm>
          <a:prstGeom prst="roundRect">
            <a:avLst/>
          </a:prstGeom>
          <a:solidFill>
            <a:srgbClr val="35C7F0"/>
          </a:solidFill>
          <a:ln w="12700"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357884"/>
            <a:ext cx="274320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/scene/drone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1832" y="1947672"/>
            <a:ext cx="0" cy="329184"/>
          </a:xfrm>
          <a:prstGeom prst="line">
            <a:avLst/>
          </a:prstGeom>
          <a:ln w="25400">
            <a:solidFill>
              <a:srgbClr val="122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85800" y="2331720"/>
            <a:ext cx="502920" cy="502920"/>
          </a:xfrm>
          <a:prstGeom prst="ellipse">
            <a:avLst/>
          </a:prstGeom>
          <a:solidFill>
            <a:srgbClr val="4D7CFE"/>
          </a:solidFill>
          <a:ln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258568"/>
            <a:ext cx="12344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MQTT 接入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258568"/>
            <a:ext cx="50749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9DB1C5"/>
                </a:solidFill>
                <a:latin typeface="Noto Sans CJK SC"/>
              </a:defRPr>
            </a:pPr>
            <a:r>
              <a:t>查看 MQTT 连接、遥测主题与状态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249424"/>
            <a:ext cx="2834640" cy="310896"/>
          </a:xfrm>
          <a:prstGeom prst="roundRect">
            <a:avLst/>
          </a:prstGeom>
          <a:solidFill>
            <a:srgbClr val="4D7CFE"/>
          </a:solidFill>
          <a:ln w="1270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263140"/>
            <a:ext cx="274320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/data/connections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41832" y="2852927"/>
            <a:ext cx="0" cy="329184"/>
          </a:xfrm>
          <a:prstGeom prst="line">
            <a:avLst/>
          </a:prstGeom>
          <a:ln w="25400">
            <a:solidFill>
              <a:srgbClr val="122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85800" y="3236976"/>
            <a:ext cx="502920" cy="502920"/>
          </a:xfrm>
          <a:prstGeom prst="ellipse">
            <a:avLst/>
          </a:prstGeom>
          <a:solidFill>
            <a:srgbClr val="B87CFF"/>
          </a:solidFill>
          <a:ln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163824"/>
            <a:ext cx="12344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本体空间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163824"/>
            <a:ext cx="50749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9DB1C5"/>
                </a:solidFill>
                <a:latin typeface="Noto Sans CJK SC"/>
              </a:defRPr>
            </a:pPr>
            <a:r>
              <a:t>在二维拓扑中查看对象与关系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3154680"/>
            <a:ext cx="2834640" cy="310896"/>
          </a:xfrm>
          <a:prstGeom prst="roundRect">
            <a:avLst/>
          </a:prstGeom>
          <a:solidFill>
            <a:srgbClr val="B87CFF"/>
          </a:solidFill>
          <a:ln w="12700"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3168396"/>
            <a:ext cx="274320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/workspace/space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1832" y="3758184"/>
            <a:ext cx="0" cy="329184"/>
          </a:xfrm>
          <a:prstGeom prst="line">
            <a:avLst/>
          </a:prstGeom>
          <a:ln w="25400">
            <a:solidFill>
              <a:srgbClr val="122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85800" y="4142231"/>
            <a:ext cx="502920" cy="502920"/>
          </a:xfrm>
          <a:prstGeom prst="ellipse">
            <a:avLst/>
          </a:prstGeom>
          <a:solidFill>
            <a:srgbClr val="FFB35C"/>
          </a:solidFill>
          <a:ln>
            <a:solidFill>
              <a:srgbClr val="FF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888" y="4069079"/>
            <a:ext cx="12344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规则与技能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069079"/>
            <a:ext cx="50749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9DB1C5"/>
                </a:solidFill>
                <a:latin typeface="Noto Sans CJK SC"/>
              </a:defRPr>
            </a:pPr>
            <a:r>
              <a:t>运行威胁规则，调用只读取证技能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4059935"/>
            <a:ext cx="2834640" cy="310896"/>
          </a:xfrm>
          <a:prstGeom prst="roundRect">
            <a:avLst/>
          </a:prstGeom>
          <a:solidFill>
            <a:srgbClr val="FFB35C"/>
          </a:solidFill>
          <a:ln w="12700">
            <a:solidFill>
              <a:srgbClr val="FF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4073651"/>
            <a:ext cx="274320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规则 / 技能 / Agent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1832" y="4663440"/>
            <a:ext cx="0" cy="329183"/>
          </a:xfrm>
          <a:prstGeom prst="line">
            <a:avLst/>
          </a:prstGeom>
          <a:ln w="25400">
            <a:solidFill>
              <a:srgbClr val="122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685800" y="5047488"/>
            <a:ext cx="502920" cy="502920"/>
          </a:xfrm>
          <a:prstGeom prst="ellipse">
            <a:avLst/>
          </a:prstGeom>
          <a:solidFill>
            <a:srgbClr val="31D6A4"/>
          </a:solidFill>
          <a:ln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9888" y="4974336"/>
            <a:ext cx="12344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行动与审计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4974336"/>
            <a:ext cx="50749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9DB1C5"/>
                </a:solidFill>
                <a:latin typeface="Noto Sans CJK SC"/>
              </a:defRPr>
            </a:pPr>
            <a:r>
              <a:t>确认方案，查看执行状态与审计记录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4965192"/>
            <a:ext cx="2834640" cy="310896"/>
          </a:xfrm>
          <a:prstGeom prst="roundRect">
            <a:avLst/>
          </a:prstGeom>
          <a:solidFill>
            <a:srgbClr val="31D6A4"/>
          </a:solidFill>
          <a:ln w="12700"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4978907"/>
            <a:ext cx="274320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行动 / 日志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925312"/>
            <a:ext cx="10863072" cy="347472"/>
          </a:xfrm>
          <a:prstGeom prst="roundRect">
            <a:avLst/>
          </a:prstGeom>
          <a:solidFill>
            <a:srgbClr val="122B42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" y="5961888"/>
            <a:ext cx="1049731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5FAFF"/>
                </a:solidFill>
                <a:latin typeface="Noto Sans CJK SC"/>
              </a:defRPr>
            </a:pPr>
            <a:r>
              <a:t>建议演示时长：6 分钟｜每一步只回答一个问题：发生了什么？为什么判断？执行了什么？结果怎样？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45720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35C7F0"/>
                </a:solidFill>
                <a:latin typeface="Noto Sans CJK SC"/>
              </a:defRPr>
            </a:pPr>
            <a:r>
              <a:t>THE CLOSED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3100" b="1">
                <a:solidFill>
                  <a:srgbClr val="F5FAFF"/>
                </a:solidFill>
                <a:latin typeface="Noto Sans CJK SC"/>
              </a:defRPr>
            </a:pPr>
            <a:r>
              <a:t>从数据流，走向可解释的业务闭环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901952"/>
            <a:ext cx="98755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600" b="0">
                <a:solidFill>
                  <a:srgbClr val="9DB1C5"/>
                </a:solidFill>
                <a:latin typeface="Noto Sans CJK SC"/>
              </a:defRPr>
            </a:pPr>
            <a:r>
              <a:t>感知数据只有进入本体语义、决策授权和效果证据链，才能成为可复用的业务能力。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2980944"/>
            <a:ext cx="658368" cy="658368"/>
          </a:xfrm>
          <a:prstGeom prst="ellipse">
            <a:avLst/>
          </a:prstGeom>
          <a:solidFill>
            <a:srgbClr val="35C7F0"/>
          </a:solidFill>
          <a:ln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3767328"/>
            <a:ext cx="8686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感知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08176" y="3310128"/>
            <a:ext cx="1444752" cy="0"/>
          </a:xfrm>
          <a:prstGeom prst="line">
            <a:avLst/>
          </a:prstGeom>
          <a:ln w="25400">
            <a:solidFill>
              <a:srgbClr val="35C7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980944" y="2980944"/>
            <a:ext cx="658368" cy="658368"/>
          </a:xfrm>
          <a:prstGeom prst="ellipse">
            <a:avLst/>
          </a:prstGeom>
          <a:solidFill>
            <a:srgbClr val="4D7CFE"/>
          </a:solidFill>
          <a:ln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71215" y="3767328"/>
            <a:ext cx="8686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认知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75887" y="3310128"/>
            <a:ext cx="1444753" cy="0"/>
          </a:xfrm>
          <a:prstGeom prst="line">
            <a:avLst/>
          </a:prstGeom>
          <a:ln w="25400">
            <a:solidFill>
              <a:srgbClr val="4D7CF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248656" y="2980944"/>
            <a:ext cx="658368" cy="658368"/>
          </a:xfrm>
          <a:prstGeom prst="ellipse">
            <a:avLst/>
          </a:prstGeom>
          <a:solidFill>
            <a:srgbClr val="B87CFF"/>
          </a:solidFill>
          <a:ln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3767328"/>
            <a:ext cx="8686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决策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0" y="3310128"/>
            <a:ext cx="1444752" cy="0"/>
          </a:xfrm>
          <a:prstGeom prst="line">
            <a:avLst/>
          </a:prstGeom>
          <a:ln w="25400">
            <a:solidFill>
              <a:srgbClr val="B87C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16367" y="2980944"/>
            <a:ext cx="658368" cy="658368"/>
          </a:xfrm>
          <a:prstGeom prst="ellipse">
            <a:avLst/>
          </a:prstGeom>
          <a:solidFill>
            <a:srgbClr val="FFB35C"/>
          </a:solidFill>
          <a:ln>
            <a:solidFill>
              <a:srgbClr val="FF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767328"/>
            <a:ext cx="8686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行动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11311" y="3310128"/>
            <a:ext cx="1444752" cy="0"/>
          </a:xfrm>
          <a:prstGeom prst="line">
            <a:avLst/>
          </a:prstGeom>
          <a:ln w="25400">
            <a:solidFill>
              <a:srgbClr val="FFB3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784080" y="2980944"/>
            <a:ext cx="658368" cy="658368"/>
          </a:xfrm>
          <a:prstGeom prst="ellipse">
            <a:avLst/>
          </a:prstGeom>
          <a:solidFill>
            <a:srgbClr val="31D6A4"/>
          </a:solidFill>
          <a:ln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74352" y="3767328"/>
            <a:ext cx="8686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评估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4690872"/>
            <a:ext cx="10881360" cy="1042415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937760"/>
            <a:ext cx="102870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5FAFF"/>
                </a:solidFill>
                <a:latin typeface="Noto Sans CJK SC"/>
              </a:defRPr>
            </a:pPr>
            <a:r>
              <a:t>下一步：将该脚本接入真实页面录屏，导出 60–90 秒产品操作动画。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4535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9DB1C5"/>
                </a:solidFill>
                <a:latin typeface="Noto Sans CJK SC"/>
              </a:defRPr>
            </a:pPr>
            <a:r>
              <a:t>知彼 Ontology · V2.2.1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反无人机本体业务闭环演示</dc:title>
  <dc:subject>MQTT 态势接入、本体映射、威胁研判、方案处置与效果评估</dc:subject>
  <dc:creator>知彼 Ontology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